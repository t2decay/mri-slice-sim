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</p:sldIdLst>
  <p:sldSz cx="12192000" cy="6858000"/>
  <p:notesSz cx="6858000" cy="9144000"/>
  <p:embeddedFontLst>
    <p:embeddedFont>
      <p:font typeface="Arial Narrow" panose="020B0606020202030204" pitchFamily="34" charset="0"/>
      <p:regular r:id="rId106"/>
      <p:bold r:id="rId107"/>
      <p:italic r:id="rId108"/>
      <p:boldItalic r:id="rId10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14" roundtripDataSignature="AMtx7mjHF7G5EiG37vWo5Jx1kThryhc5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BE7AE88-D19B-4EEE-8AA6-E2DF6FB06228}">
  <a:tblStyle styleId="{5BE7AE88-D19B-4EEE-8AA6-E2DF6FB06228}" styleName="Table_0">
    <a:wholeTbl>
      <a:tcTxStyle b="off" i="off">
        <a:font>
          <a:latin typeface="Arial Narrow"/>
          <a:ea typeface="Arial Narrow"/>
          <a:cs typeface="Arial Narrow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CEFF1"/>
          </a:solidFill>
        </a:fill>
      </a:tcStyle>
    </a:wholeTbl>
    <a:band1H>
      <a:tcTxStyle/>
      <a:tcStyle>
        <a:tcBdr/>
        <a:fill>
          <a:solidFill>
            <a:srgbClr val="D7DDE2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7DDE2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 Narrow"/>
          <a:ea typeface="Arial Narrow"/>
          <a:cs typeface="Arial Narrow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 Narrow"/>
          <a:ea typeface="Arial Narrow"/>
          <a:cs typeface="Arial Narrow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 Narrow"/>
          <a:ea typeface="Arial Narrow"/>
          <a:cs typeface="Arial Narrow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 Narrow"/>
          <a:ea typeface="Arial Narrow"/>
          <a:cs typeface="Arial Narrow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heme" Target="theme/theme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font" Target="fonts/font2.fntdata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8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font" Target="fonts/font3.fntdata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font" Target="fonts/font1.fntdata"/><Relationship Id="rId114" Type="http://customschemas.google.com/relationships/presentationmetadata" Target="metadata"/><Relationship Id="rId119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font" Target="fonts/font4.fntdata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5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s Williamson" userId="bca43561d2b5146a" providerId="LiveId" clId="{6393EC7A-F0B5-4FC5-8878-409A348EC07E}"/>
    <pc:docChg chg="custSel modSld">
      <pc:chgData name="Wes Williamson" userId="bca43561d2b5146a" providerId="LiveId" clId="{6393EC7A-F0B5-4FC5-8878-409A348EC07E}" dt="2026-05-31T17:30:32.988" v="150" actId="20577"/>
      <pc:docMkLst>
        <pc:docMk/>
      </pc:docMkLst>
      <pc:sldChg chg="modSp mod">
        <pc:chgData name="Wes Williamson" userId="bca43561d2b5146a" providerId="LiveId" clId="{6393EC7A-F0B5-4FC5-8878-409A348EC07E}" dt="2026-05-31T17:30:32.988" v="150" actId="20577"/>
        <pc:sldMkLst>
          <pc:docMk/>
          <pc:sldMk cId="0" sldId="341"/>
        </pc:sldMkLst>
        <pc:graphicFrameChg chg="modGraphic">
          <ac:chgData name="Wes Williamson" userId="bca43561d2b5146a" providerId="LiveId" clId="{6393EC7A-F0B5-4FC5-8878-409A348EC07E}" dt="2026-05-31T17:30:32.988" v="150" actId="20577"/>
          <ac:graphicFrameMkLst>
            <pc:docMk/>
            <pc:sldMk cId="0" sldId="341"/>
            <ac:graphicFrameMk id="927" creationId="{00000000-0000-0000-0000-000000000000}"/>
          </ac:graphicFrameMkLst>
        </pc:graphicFrameChg>
      </pc:sldChg>
      <pc:sldChg chg="modSp mod">
        <pc:chgData name="Wes Williamson" userId="bca43561d2b5146a" providerId="LiveId" clId="{6393EC7A-F0B5-4FC5-8878-409A348EC07E}" dt="2026-05-30T21:12:22.890" v="49" actId="313"/>
        <pc:sldMkLst>
          <pc:docMk/>
          <pc:sldMk cId="0" sldId="348"/>
        </pc:sldMkLst>
        <pc:spChg chg="mod">
          <ac:chgData name="Wes Williamson" userId="bca43561d2b5146a" providerId="LiveId" clId="{6393EC7A-F0B5-4FC5-8878-409A348EC07E}" dt="2026-05-30T13:12:31.045" v="15" actId="20577"/>
          <ac:spMkLst>
            <pc:docMk/>
            <pc:sldMk cId="0" sldId="348"/>
            <ac:spMk id="1001" creationId="{00000000-0000-0000-0000-000000000000}"/>
          </ac:spMkLst>
        </pc:spChg>
        <pc:graphicFrameChg chg="modGraphic">
          <ac:chgData name="Wes Williamson" userId="bca43561d2b5146a" providerId="LiveId" clId="{6393EC7A-F0B5-4FC5-8878-409A348EC07E}" dt="2026-05-30T21:12:22.890" v="49" actId="313"/>
          <ac:graphicFrameMkLst>
            <pc:docMk/>
            <pc:sldMk cId="0" sldId="348"/>
            <ac:graphicFrameMk id="996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5" name="Google Shape;765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5" name="Google Shape;815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5" name="Google Shape;835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5" name="Google Shape;845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5" name="Google Shape;855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865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5" name="Google Shape;875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5" name="Google Shape;885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5" name="Google Shape;895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5" name="Google Shape;925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5" name="Google Shape;935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4" name="Google Shape;944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4" name="Google Shape;954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4" name="Google Shape;974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4" name="Google Shape;984;p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4" name="Google Shape;994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4" name="Google Shape;1004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4" name="Google Shape;1014;p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5" name="Google Shape;1025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5" name="Google Shape;1035;p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5" name="Google Shape;1045;p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5" name="Google Shape;1055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5" name="Google Shape;1065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5" name="Google Shape;1075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5" name="Google Shape;1085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5" name="Google Shape;1095;p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105" descr="horizon.png"/>
          <p:cNvPicPr preferRelativeResize="0"/>
          <p:nvPr/>
        </p:nvPicPr>
        <p:blipFill rotWithShape="1">
          <a:blip r:embed="rId2">
            <a:alphaModFix/>
          </a:blip>
          <a:srcRect t="33333"/>
          <a:stretch/>
        </p:blipFill>
        <p:spPr>
          <a:xfrm>
            <a:off x="0" y="0"/>
            <a:ext cx="121920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05"/>
          <p:cNvSpPr txBox="1">
            <a:spLocks noGrp="1"/>
          </p:cNvSpPr>
          <p:nvPr>
            <p:ph type="dt" idx="10"/>
          </p:nvPr>
        </p:nvSpPr>
        <p:spPr>
          <a:xfrm>
            <a:off x="7620000" y="6356351"/>
            <a:ext cx="203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05"/>
          <p:cNvSpPr txBox="1">
            <a:spLocks noGrp="1"/>
          </p:cNvSpPr>
          <p:nvPr>
            <p:ph type="ftr" idx="11"/>
          </p:nvPr>
        </p:nvSpPr>
        <p:spPr>
          <a:xfrm>
            <a:off x="8128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05"/>
          <p:cNvSpPr txBox="1">
            <a:spLocks noGrp="1"/>
          </p:cNvSpPr>
          <p:nvPr>
            <p:ph type="sldNum" idx="12"/>
          </p:nvPr>
        </p:nvSpPr>
        <p:spPr>
          <a:xfrm>
            <a:off x="10058400" y="6356351"/>
            <a:ext cx="132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" name="Google Shape;17;p105"/>
          <p:cNvSpPr txBox="1">
            <a:spLocks noGrp="1"/>
          </p:cNvSpPr>
          <p:nvPr>
            <p:ph type="subTitle" idx="1"/>
          </p:nvPr>
        </p:nvSpPr>
        <p:spPr>
          <a:xfrm>
            <a:off x="16256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05"/>
          <p:cNvSpPr txBox="1">
            <a:spLocks noGrp="1"/>
          </p:cNvSpPr>
          <p:nvPr>
            <p:ph type="ctrTitle"/>
          </p:nvPr>
        </p:nvSpPr>
        <p:spPr>
          <a:xfrm>
            <a:off x="914400" y="200788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Narrow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06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06"/>
          <p:cNvSpPr txBox="1">
            <a:spLocks noGrp="1"/>
          </p:cNvSpPr>
          <p:nvPr>
            <p:ph type="dt" idx="10"/>
          </p:nvPr>
        </p:nvSpPr>
        <p:spPr>
          <a:xfrm>
            <a:off x="7620000" y="6356351"/>
            <a:ext cx="203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06"/>
          <p:cNvSpPr txBox="1">
            <a:spLocks noGrp="1"/>
          </p:cNvSpPr>
          <p:nvPr>
            <p:ph type="ftr" idx="11"/>
          </p:nvPr>
        </p:nvSpPr>
        <p:spPr>
          <a:xfrm>
            <a:off x="8128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6"/>
          <p:cNvSpPr txBox="1">
            <a:spLocks noGrp="1"/>
          </p:cNvSpPr>
          <p:nvPr>
            <p:ph type="sldNum" idx="12"/>
          </p:nvPr>
        </p:nvSpPr>
        <p:spPr>
          <a:xfrm>
            <a:off x="10058400" y="6356351"/>
            <a:ext cx="132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106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7"/>
          <p:cNvSpPr txBox="1">
            <a:spLocks noGrp="1"/>
          </p:cNvSpPr>
          <p:nvPr>
            <p:ph type="title"/>
          </p:nvPr>
        </p:nvSpPr>
        <p:spPr>
          <a:xfrm>
            <a:off x="812801" y="4962526"/>
            <a:ext cx="10513484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Narrow"/>
              <a:buNone/>
              <a:defRPr sz="3200" b="0" i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7"/>
          <p:cNvSpPr txBox="1">
            <a:spLocks noGrp="1"/>
          </p:cNvSpPr>
          <p:nvPr>
            <p:ph type="body" idx="1"/>
          </p:nvPr>
        </p:nvSpPr>
        <p:spPr>
          <a:xfrm>
            <a:off x="812801" y="3462339"/>
            <a:ext cx="10513484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107"/>
          <p:cNvSpPr txBox="1">
            <a:spLocks noGrp="1"/>
          </p:cNvSpPr>
          <p:nvPr>
            <p:ph type="dt" idx="10"/>
          </p:nvPr>
        </p:nvSpPr>
        <p:spPr>
          <a:xfrm>
            <a:off x="7620000" y="6356351"/>
            <a:ext cx="203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7"/>
          <p:cNvSpPr txBox="1">
            <a:spLocks noGrp="1"/>
          </p:cNvSpPr>
          <p:nvPr>
            <p:ph type="ftr" idx="11"/>
          </p:nvPr>
        </p:nvSpPr>
        <p:spPr>
          <a:xfrm>
            <a:off x="8128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7"/>
          <p:cNvSpPr txBox="1">
            <a:spLocks noGrp="1"/>
          </p:cNvSpPr>
          <p:nvPr>
            <p:ph type="sldNum" idx="12"/>
          </p:nvPr>
        </p:nvSpPr>
        <p:spPr>
          <a:xfrm>
            <a:off x="10058400" y="6356351"/>
            <a:ext cx="132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8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4978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365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00"/>
              <a:buChar char="•"/>
              <a:defRPr/>
            </a:lvl5pPr>
            <a:lvl6pPr marL="2743200" lvl="5" indent="-3365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Arial"/>
              <a:buChar char="•"/>
              <a:defRPr/>
            </a:lvl6pPr>
            <a:lvl7pPr marL="3200400" lvl="6" indent="-3365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Arial"/>
              <a:buChar char="•"/>
              <a:defRPr/>
            </a:lvl7pPr>
            <a:lvl8pPr marL="3657600" lvl="7" indent="-3365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Arial"/>
              <a:buChar char="•"/>
              <a:defRPr/>
            </a:lvl8pPr>
            <a:lvl9pPr marL="4114800" lvl="8" indent="-33655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lt2"/>
              </a:buClr>
              <a:buSzPts val="1700"/>
              <a:buFont typeface="Arial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08"/>
          <p:cNvSpPr txBox="1">
            <a:spLocks noGrp="1"/>
          </p:cNvSpPr>
          <p:nvPr>
            <p:ph type="body" idx="2"/>
          </p:nvPr>
        </p:nvSpPr>
        <p:spPr>
          <a:xfrm>
            <a:off x="6400800" y="1600200"/>
            <a:ext cx="4978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365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700"/>
              <a:buChar char="•"/>
              <a:defRPr/>
            </a:lvl6pPr>
            <a:lvl7pPr marL="3200400" lvl="6" indent="-3365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700"/>
              <a:buChar char="•"/>
              <a:defRPr/>
            </a:lvl7pPr>
            <a:lvl8pPr marL="3657600" lvl="7" indent="-3365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700"/>
              <a:buChar char="•"/>
              <a:defRPr/>
            </a:lvl8pPr>
            <a:lvl9pPr marL="4114800" lvl="8" indent="-33655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lt2"/>
              </a:buClr>
              <a:buSzPts val="17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108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8"/>
          <p:cNvSpPr txBox="1">
            <a:spLocks noGrp="1"/>
          </p:cNvSpPr>
          <p:nvPr>
            <p:ph type="dt" idx="10"/>
          </p:nvPr>
        </p:nvSpPr>
        <p:spPr>
          <a:xfrm>
            <a:off x="7620000" y="6356351"/>
            <a:ext cx="203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08"/>
          <p:cNvSpPr txBox="1">
            <a:spLocks noGrp="1"/>
          </p:cNvSpPr>
          <p:nvPr>
            <p:ph type="ftr" idx="11"/>
          </p:nvPr>
        </p:nvSpPr>
        <p:spPr>
          <a:xfrm>
            <a:off x="8128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8"/>
          <p:cNvSpPr txBox="1">
            <a:spLocks noGrp="1"/>
          </p:cNvSpPr>
          <p:nvPr>
            <p:ph type="sldNum" idx="12"/>
          </p:nvPr>
        </p:nvSpPr>
        <p:spPr>
          <a:xfrm>
            <a:off x="10058400" y="6356351"/>
            <a:ext cx="132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9"/>
          <p:cNvSpPr txBox="1">
            <a:spLocks noGrp="1"/>
          </p:cNvSpPr>
          <p:nvPr>
            <p:ph type="body" idx="1"/>
          </p:nvPr>
        </p:nvSpPr>
        <p:spPr>
          <a:xfrm>
            <a:off x="6400800" y="2209800"/>
            <a:ext cx="4978400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365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700"/>
              <a:buChar char="•"/>
              <a:defRPr/>
            </a:lvl6pPr>
            <a:lvl7pPr marL="3200400" lvl="6" indent="-3365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700"/>
              <a:buChar char="•"/>
              <a:defRPr/>
            </a:lvl7pPr>
            <a:lvl8pPr marL="3657600" lvl="7" indent="-3365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700"/>
              <a:buChar char="•"/>
              <a:defRPr/>
            </a:lvl8pPr>
            <a:lvl9pPr marL="4114800" lvl="8" indent="-33655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lt2"/>
              </a:buClr>
              <a:buSzPts val="17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09"/>
          <p:cNvSpPr txBox="1">
            <a:spLocks noGrp="1"/>
          </p:cNvSpPr>
          <p:nvPr>
            <p:ph type="body" idx="2"/>
          </p:nvPr>
        </p:nvSpPr>
        <p:spPr>
          <a:xfrm>
            <a:off x="812800" y="2209800"/>
            <a:ext cx="4978400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365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700"/>
              <a:buChar char="•"/>
              <a:defRPr/>
            </a:lvl6pPr>
            <a:lvl7pPr marL="3200400" lvl="6" indent="-3365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700"/>
              <a:buChar char="•"/>
              <a:defRPr/>
            </a:lvl7pPr>
            <a:lvl8pPr marL="3657600" lvl="7" indent="-3365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700"/>
              <a:buChar char="•"/>
              <a:defRPr/>
            </a:lvl8pPr>
            <a:lvl9pPr marL="4114800" lvl="8" indent="-33655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lt2"/>
              </a:buClr>
              <a:buSzPts val="17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09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09"/>
          <p:cNvSpPr txBox="1">
            <a:spLocks noGrp="1"/>
          </p:cNvSpPr>
          <p:nvPr>
            <p:ph type="body" idx="3"/>
          </p:nvPr>
        </p:nvSpPr>
        <p:spPr>
          <a:xfrm>
            <a:off x="812800" y="1600200"/>
            <a:ext cx="4978400" cy="57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  <a:defRPr sz="1700" b="0" i="0">
                <a:solidFill>
                  <a:schemeClr val="l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09"/>
          <p:cNvSpPr txBox="1">
            <a:spLocks noGrp="1"/>
          </p:cNvSpPr>
          <p:nvPr>
            <p:ph type="body" idx="4"/>
          </p:nvPr>
        </p:nvSpPr>
        <p:spPr>
          <a:xfrm>
            <a:off x="6400800" y="1600200"/>
            <a:ext cx="4978400" cy="57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  <a:defRPr sz="1700" b="0" i="0">
                <a:solidFill>
                  <a:schemeClr val="l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09"/>
          <p:cNvSpPr txBox="1">
            <a:spLocks noGrp="1"/>
          </p:cNvSpPr>
          <p:nvPr>
            <p:ph type="dt" idx="10"/>
          </p:nvPr>
        </p:nvSpPr>
        <p:spPr>
          <a:xfrm>
            <a:off x="7620000" y="6356351"/>
            <a:ext cx="203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09"/>
          <p:cNvSpPr txBox="1">
            <a:spLocks noGrp="1"/>
          </p:cNvSpPr>
          <p:nvPr>
            <p:ph type="ftr" idx="11"/>
          </p:nvPr>
        </p:nvSpPr>
        <p:spPr>
          <a:xfrm>
            <a:off x="8128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9"/>
          <p:cNvSpPr txBox="1">
            <a:spLocks noGrp="1"/>
          </p:cNvSpPr>
          <p:nvPr>
            <p:ph type="sldNum" idx="12"/>
          </p:nvPr>
        </p:nvSpPr>
        <p:spPr>
          <a:xfrm>
            <a:off x="10058400" y="6356351"/>
            <a:ext cx="132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0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0"/>
          <p:cNvSpPr txBox="1">
            <a:spLocks noGrp="1"/>
          </p:cNvSpPr>
          <p:nvPr>
            <p:ph type="dt" idx="10"/>
          </p:nvPr>
        </p:nvSpPr>
        <p:spPr>
          <a:xfrm>
            <a:off x="7620000" y="6356351"/>
            <a:ext cx="203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10"/>
          <p:cNvSpPr txBox="1">
            <a:spLocks noGrp="1"/>
          </p:cNvSpPr>
          <p:nvPr>
            <p:ph type="ftr" idx="11"/>
          </p:nvPr>
        </p:nvSpPr>
        <p:spPr>
          <a:xfrm>
            <a:off x="8128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10"/>
          <p:cNvSpPr txBox="1">
            <a:spLocks noGrp="1"/>
          </p:cNvSpPr>
          <p:nvPr>
            <p:ph type="sldNum" idx="12"/>
          </p:nvPr>
        </p:nvSpPr>
        <p:spPr>
          <a:xfrm>
            <a:off x="10058400" y="6356351"/>
            <a:ext cx="132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1"/>
          <p:cNvSpPr txBox="1">
            <a:spLocks noGrp="1"/>
          </p:cNvSpPr>
          <p:nvPr>
            <p:ph type="dt" idx="10"/>
          </p:nvPr>
        </p:nvSpPr>
        <p:spPr>
          <a:xfrm>
            <a:off x="7620000" y="6356351"/>
            <a:ext cx="203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11"/>
          <p:cNvSpPr txBox="1">
            <a:spLocks noGrp="1"/>
          </p:cNvSpPr>
          <p:nvPr>
            <p:ph type="ftr" idx="11"/>
          </p:nvPr>
        </p:nvSpPr>
        <p:spPr>
          <a:xfrm>
            <a:off x="8128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11"/>
          <p:cNvSpPr txBox="1">
            <a:spLocks noGrp="1"/>
          </p:cNvSpPr>
          <p:nvPr>
            <p:ph type="sldNum" idx="12"/>
          </p:nvPr>
        </p:nvSpPr>
        <p:spPr>
          <a:xfrm>
            <a:off x="10058400" y="6356351"/>
            <a:ext cx="132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2"/>
          <p:cNvSpPr txBox="1">
            <a:spLocks noGrp="1"/>
          </p:cNvSpPr>
          <p:nvPr>
            <p:ph type="body" idx="1"/>
          </p:nvPr>
        </p:nvSpPr>
        <p:spPr>
          <a:xfrm>
            <a:off x="5283200" y="1447800"/>
            <a:ext cx="61976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12"/>
          <p:cNvSpPr txBox="1">
            <a:spLocks noGrp="1"/>
          </p:cNvSpPr>
          <p:nvPr>
            <p:ph type="title"/>
          </p:nvPr>
        </p:nvSpPr>
        <p:spPr>
          <a:xfrm>
            <a:off x="816864" y="1447800"/>
            <a:ext cx="39624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 Narrow"/>
              <a:buNone/>
              <a:defRPr sz="1800" b="0" i="0" cap="none"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12"/>
          <p:cNvSpPr txBox="1">
            <a:spLocks noGrp="1"/>
          </p:cNvSpPr>
          <p:nvPr>
            <p:ph type="body" idx="2"/>
          </p:nvPr>
        </p:nvSpPr>
        <p:spPr>
          <a:xfrm>
            <a:off x="816864" y="2547892"/>
            <a:ext cx="3962400" cy="3167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25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0" name="Google Shape;60;p112"/>
          <p:cNvSpPr txBox="1">
            <a:spLocks noGrp="1"/>
          </p:cNvSpPr>
          <p:nvPr>
            <p:ph type="dt" idx="10"/>
          </p:nvPr>
        </p:nvSpPr>
        <p:spPr>
          <a:xfrm>
            <a:off x="7620000" y="6356351"/>
            <a:ext cx="203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12"/>
          <p:cNvSpPr txBox="1">
            <a:spLocks noGrp="1"/>
          </p:cNvSpPr>
          <p:nvPr>
            <p:ph type="ftr" idx="11"/>
          </p:nvPr>
        </p:nvSpPr>
        <p:spPr>
          <a:xfrm>
            <a:off x="8128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12"/>
          <p:cNvSpPr txBox="1">
            <a:spLocks noGrp="1"/>
          </p:cNvSpPr>
          <p:nvPr>
            <p:ph type="sldNum" idx="12"/>
          </p:nvPr>
        </p:nvSpPr>
        <p:spPr>
          <a:xfrm>
            <a:off x="10058400" y="6356351"/>
            <a:ext cx="132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13" descr="horizon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13"/>
          <p:cNvSpPr txBox="1">
            <a:spLocks noGrp="1"/>
          </p:cNvSpPr>
          <p:nvPr>
            <p:ph type="title"/>
          </p:nvPr>
        </p:nvSpPr>
        <p:spPr>
          <a:xfrm>
            <a:off x="812800" y="1447800"/>
            <a:ext cx="39624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 Narrow"/>
              <a:buNone/>
              <a:defRPr sz="1800" b="0" i="0" cap="none"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3"/>
          <p:cNvSpPr>
            <a:spLocks noGrp="1"/>
          </p:cNvSpPr>
          <p:nvPr>
            <p:ph type="pic" idx="2"/>
          </p:nvPr>
        </p:nvSpPr>
        <p:spPr>
          <a:xfrm>
            <a:off x="6209792" y="1447800"/>
            <a:ext cx="4559808" cy="347472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13"/>
          <p:cNvSpPr txBox="1">
            <a:spLocks noGrp="1"/>
          </p:cNvSpPr>
          <p:nvPr>
            <p:ph type="body" idx="1"/>
          </p:nvPr>
        </p:nvSpPr>
        <p:spPr>
          <a:xfrm>
            <a:off x="812800" y="2547891"/>
            <a:ext cx="3962400" cy="2405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25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13"/>
          <p:cNvSpPr txBox="1">
            <a:spLocks noGrp="1"/>
          </p:cNvSpPr>
          <p:nvPr>
            <p:ph type="dt" idx="10"/>
          </p:nvPr>
        </p:nvSpPr>
        <p:spPr>
          <a:xfrm>
            <a:off x="7620000" y="6356351"/>
            <a:ext cx="203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3"/>
          <p:cNvSpPr txBox="1">
            <a:spLocks noGrp="1"/>
          </p:cNvSpPr>
          <p:nvPr>
            <p:ph type="ftr" idx="11"/>
          </p:nvPr>
        </p:nvSpPr>
        <p:spPr>
          <a:xfrm>
            <a:off x="8128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3"/>
          <p:cNvSpPr txBox="1">
            <a:spLocks noGrp="1"/>
          </p:cNvSpPr>
          <p:nvPr>
            <p:ph type="sldNum" idx="12"/>
          </p:nvPr>
        </p:nvSpPr>
        <p:spPr>
          <a:xfrm>
            <a:off x="10058400" y="6356351"/>
            <a:ext cx="132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4"/>
          <p:cNvSpPr txBox="1">
            <a:spLocks noGrp="1"/>
          </p:cNvSpPr>
          <p:nvPr>
            <p:ph type="body" idx="1"/>
          </p:nvPr>
        </p:nvSpPr>
        <p:spPr>
          <a:xfrm rot="5400000">
            <a:off x="3833019" y="-1420018"/>
            <a:ext cx="4525963" cy="10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4"/>
          <p:cNvSpPr txBox="1">
            <a:spLocks noGrp="1"/>
          </p:cNvSpPr>
          <p:nvPr>
            <p:ph type="dt" idx="10"/>
          </p:nvPr>
        </p:nvSpPr>
        <p:spPr>
          <a:xfrm>
            <a:off x="7620000" y="6356351"/>
            <a:ext cx="203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4"/>
          <p:cNvSpPr txBox="1">
            <a:spLocks noGrp="1"/>
          </p:cNvSpPr>
          <p:nvPr>
            <p:ph type="ftr" idx="11"/>
          </p:nvPr>
        </p:nvSpPr>
        <p:spPr>
          <a:xfrm>
            <a:off x="8128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4"/>
          <p:cNvSpPr txBox="1">
            <a:spLocks noGrp="1"/>
          </p:cNvSpPr>
          <p:nvPr>
            <p:ph type="sldNum" idx="12"/>
          </p:nvPr>
        </p:nvSpPr>
        <p:spPr>
          <a:xfrm>
            <a:off x="10058400" y="6356351"/>
            <a:ext cx="132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5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5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15"/>
          <p:cNvSpPr txBox="1">
            <a:spLocks noGrp="1"/>
          </p:cNvSpPr>
          <p:nvPr>
            <p:ph type="dt" idx="10"/>
          </p:nvPr>
        </p:nvSpPr>
        <p:spPr>
          <a:xfrm>
            <a:off x="7620000" y="6356351"/>
            <a:ext cx="203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5"/>
          <p:cNvSpPr txBox="1">
            <a:spLocks noGrp="1"/>
          </p:cNvSpPr>
          <p:nvPr>
            <p:ph type="ftr" idx="11"/>
          </p:nvPr>
        </p:nvSpPr>
        <p:spPr>
          <a:xfrm>
            <a:off x="8128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15"/>
          <p:cNvSpPr txBox="1">
            <a:spLocks noGrp="1"/>
          </p:cNvSpPr>
          <p:nvPr>
            <p:ph type="sldNum" idx="12"/>
          </p:nvPr>
        </p:nvSpPr>
        <p:spPr>
          <a:xfrm>
            <a:off x="10058400" y="6356351"/>
            <a:ext cx="132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B3B3B"/>
            </a:gs>
            <a:gs pos="31000">
              <a:schemeClr val="dk1"/>
            </a:gs>
            <a:gs pos="100000">
              <a:schemeClr val="dk1"/>
            </a:gs>
          </a:gsLst>
          <a:lin ang="5400000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04" descr="horizon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0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  <a:defRPr sz="3000" b="0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04"/>
          <p:cNvSpPr txBox="1">
            <a:spLocks noGrp="1"/>
          </p:cNvSpPr>
          <p:nvPr>
            <p:ph type="body" idx="1"/>
          </p:nvPr>
        </p:nvSpPr>
        <p:spPr>
          <a:xfrm>
            <a:off x="812800" y="1600201"/>
            <a:ext cx="105664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655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365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365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365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365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365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365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365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3655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lt2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9" name="Google Shape;9;p104"/>
          <p:cNvSpPr txBox="1">
            <a:spLocks noGrp="1"/>
          </p:cNvSpPr>
          <p:nvPr>
            <p:ph type="dt" idx="10"/>
          </p:nvPr>
        </p:nvSpPr>
        <p:spPr>
          <a:xfrm>
            <a:off x="7620000" y="6356351"/>
            <a:ext cx="203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0" name="Google Shape;10;p104"/>
          <p:cNvSpPr txBox="1">
            <a:spLocks noGrp="1"/>
          </p:cNvSpPr>
          <p:nvPr>
            <p:ph type="ftr" idx="11"/>
          </p:nvPr>
        </p:nvSpPr>
        <p:spPr>
          <a:xfrm>
            <a:off x="8128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1" name="Google Shape;11;p104"/>
          <p:cNvSpPr txBox="1">
            <a:spLocks noGrp="1"/>
          </p:cNvSpPr>
          <p:nvPr>
            <p:ph type="sldNum" idx="12"/>
          </p:nvPr>
        </p:nvSpPr>
        <p:spPr>
          <a:xfrm>
            <a:off x="10058400" y="6356351"/>
            <a:ext cx="132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g"/><Relationship Id="rId4" Type="http://schemas.openxmlformats.org/officeDocument/2006/relationships/image" Target="../media/image16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jpg"/><Relationship Id="rId4" Type="http://schemas.openxmlformats.org/officeDocument/2006/relationships/image" Target="../media/image30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jpg"/><Relationship Id="rId4" Type="http://schemas.openxmlformats.org/officeDocument/2006/relationships/image" Target="../media/image3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jpg"/><Relationship Id="rId4" Type="http://schemas.openxmlformats.org/officeDocument/2006/relationships/image" Target="../media/image36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jpg"/><Relationship Id="rId4" Type="http://schemas.openxmlformats.org/officeDocument/2006/relationships/image" Target="../media/image39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jpg"/><Relationship Id="rId4" Type="http://schemas.openxmlformats.org/officeDocument/2006/relationships/image" Target="../media/image4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jpg"/><Relationship Id="rId4" Type="http://schemas.openxmlformats.org/officeDocument/2006/relationships/image" Target="../media/image49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jpg"/><Relationship Id="rId4" Type="http://schemas.openxmlformats.org/officeDocument/2006/relationships/image" Target="../media/image52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jpg"/><Relationship Id="rId4" Type="http://schemas.openxmlformats.org/officeDocument/2006/relationships/image" Target="../media/image54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jpg"/><Relationship Id="rId4" Type="http://schemas.openxmlformats.org/officeDocument/2006/relationships/image" Target="../media/image57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jpg"/><Relationship Id="rId4" Type="http://schemas.openxmlformats.org/officeDocument/2006/relationships/image" Target="../media/image60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jpg"/><Relationship Id="rId4" Type="http://schemas.openxmlformats.org/officeDocument/2006/relationships/image" Target="../media/image66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jpg"/><Relationship Id="rId4" Type="http://schemas.openxmlformats.org/officeDocument/2006/relationships/image" Target="../media/image69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jpg"/><Relationship Id="rId4" Type="http://schemas.openxmlformats.org/officeDocument/2006/relationships/image" Target="../media/image7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4.jpg"/><Relationship Id="rId4" Type="http://schemas.openxmlformats.org/officeDocument/2006/relationships/image" Target="../media/image83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jpg"/><Relationship Id="rId4" Type="http://schemas.openxmlformats.org/officeDocument/2006/relationships/image" Target="../media/image86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1.jpg"/><Relationship Id="rId4" Type="http://schemas.openxmlformats.org/officeDocument/2006/relationships/image" Target="../media/image90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5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8.jpg"/><Relationship Id="rId4" Type="http://schemas.openxmlformats.org/officeDocument/2006/relationships/image" Target="../media/image9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3.jpg"/><Relationship Id="rId4" Type="http://schemas.openxmlformats.org/officeDocument/2006/relationships/image" Target="../media/image10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2.jpg"/><Relationship Id="rId4" Type="http://schemas.openxmlformats.org/officeDocument/2006/relationships/image" Target="../media/image111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5.jpg"/><Relationship Id="rId4" Type="http://schemas.openxmlformats.org/officeDocument/2006/relationships/image" Target="../media/image114.jp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8.jpg"/><Relationship Id="rId4" Type="http://schemas.openxmlformats.org/officeDocument/2006/relationships/image" Target="../media/image117.jp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1.jpg"/><Relationship Id="rId4" Type="http://schemas.openxmlformats.org/officeDocument/2006/relationships/image" Target="../media/image120.jp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4.jpg"/><Relationship Id="rId4" Type="http://schemas.openxmlformats.org/officeDocument/2006/relationships/image" Target="../media/image123.jp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6.jpg"/><Relationship Id="rId4" Type="http://schemas.openxmlformats.org/officeDocument/2006/relationships/image" Target="../media/image125.jp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9.jpg"/><Relationship Id="rId4" Type="http://schemas.openxmlformats.org/officeDocument/2006/relationships/image" Target="../media/image128.jp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jp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2.jpg"/><Relationship Id="rId4" Type="http://schemas.openxmlformats.org/officeDocument/2006/relationships/image" Target="../media/image131.jp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jp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5.jpg"/><Relationship Id="rId4" Type="http://schemas.openxmlformats.org/officeDocument/2006/relationships/image" Target="../media/image134.jp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8.jpg"/><Relationship Id="rId4" Type="http://schemas.openxmlformats.org/officeDocument/2006/relationships/image" Target="../media/image137.jp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1.jpg"/><Relationship Id="rId4" Type="http://schemas.openxmlformats.org/officeDocument/2006/relationships/image" Target="../media/image140.jp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jp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4.jpg"/><Relationship Id="rId4" Type="http://schemas.openxmlformats.org/officeDocument/2006/relationships/image" Target="../media/image143.jp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0.jpg"/><Relationship Id="rId4" Type="http://schemas.openxmlformats.org/officeDocument/2006/relationships/image" Target="../media/image146.jp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jp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9.jpg"/><Relationship Id="rId4" Type="http://schemas.openxmlformats.org/officeDocument/2006/relationships/image" Target="../media/image148.jp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jp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2.jpg"/><Relationship Id="rId4" Type="http://schemas.openxmlformats.org/officeDocument/2006/relationships/image" Target="../media/image151.jp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jp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5.jpg"/><Relationship Id="rId4" Type="http://schemas.openxmlformats.org/officeDocument/2006/relationships/image" Target="../media/image154.jp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jp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8.jpg"/><Relationship Id="rId4" Type="http://schemas.openxmlformats.org/officeDocument/2006/relationships/image" Target="../media/image157.jp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jp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1.jpg"/><Relationship Id="rId4" Type="http://schemas.openxmlformats.org/officeDocument/2006/relationships/image" Target="../media/image160.jp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jp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3.jpg"/><Relationship Id="rId4" Type="http://schemas.openxmlformats.org/officeDocument/2006/relationships/image" Target="../media/image124.jp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jp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6.jpg"/><Relationship Id="rId4" Type="http://schemas.openxmlformats.org/officeDocument/2006/relationships/image" Target="../media/image165.jp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jp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9.jpg"/><Relationship Id="rId4" Type="http://schemas.openxmlformats.org/officeDocument/2006/relationships/image" Target="../media/image168.jp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jp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2.jpg"/><Relationship Id="rId4" Type="http://schemas.openxmlformats.org/officeDocument/2006/relationships/image" Target="../media/image171.jp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jp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5.jpg"/><Relationship Id="rId4" Type="http://schemas.openxmlformats.org/officeDocument/2006/relationships/image" Target="../media/image174.jp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jp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8.jpg"/><Relationship Id="rId4" Type="http://schemas.openxmlformats.org/officeDocument/2006/relationships/image" Target="../media/image177.jp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jp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1.jpg"/><Relationship Id="rId4" Type="http://schemas.openxmlformats.org/officeDocument/2006/relationships/image" Target="../media/image180.jp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jp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4.jpg"/><Relationship Id="rId4" Type="http://schemas.openxmlformats.org/officeDocument/2006/relationships/image" Target="../media/image183.jp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jp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5.jpg"/><Relationship Id="rId4" Type="http://schemas.openxmlformats.org/officeDocument/2006/relationships/image" Target="../media/image174.jp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jp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8.jpg"/><Relationship Id="rId4" Type="http://schemas.openxmlformats.org/officeDocument/2006/relationships/image" Target="../media/image186.jp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jp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9.jpg"/><Relationship Id="rId4" Type="http://schemas.openxmlformats.org/officeDocument/2006/relationships/image" Target="../media/image188.jp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jp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2.jpg"/><Relationship Id="rId4" Type="http://schemas.openxmlformats.org/officeDocument/2006/relationships/image" Target="../media/image191.jp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jp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5.jpg"/><Relationship Id="rId4" Type="http://schemas.openxmlformats.org/officeDocument/2006/relationships/image" Target="../media/image194.jp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jp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8.jpg"/><Relationship Id="rId4" Type="http://schemas.openxmlformats.org/officeDocument/2006/relationships/image" Target="../media/image197.jp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jp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1.jpg"/><Relationship Id="rId4" Type="http://schemas.openxmlformats.org/officeDocument/2006/relationships/image" Target="../media/image200.jp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4.jpg"/><Relationship Id="rId4" Type="http://schemas.openxmlformats.org/officeDocument/2006/relationships/image" Target="../media/image203.jp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7.jpg"/><Relationship Id="rId4" Type="http://schemas.openxmlformats.org/officeDocument/2006/relationships/image" Target="../media/image206.jp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0.jpg"/><Relationship Id="rId4" Type="http://schemas.openxmlformats.org/officeDocument/2006/relationships/image" Target="../media/image209.jp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3.jpg"/><Relationship Id="rId4" Type="http://schemas.openxmlformats.org/officeDocument/2006/relationships/image" Target="../media/image212.jp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6.jpg"/><Relationship Id="rId4" Type="http://schemas.openxmlformats.org/officeDocument/2006/relationships/image" Target="../media/image215.jp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jp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9.jpg"/><Relationship Id="rId4" Type="http://schemas.openxmlformats.org/officeDocument/2006/relationships/image" Target="../media/image218.jp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jp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2.jpg"/><Relationship Id="rId4" Type="http://schemas.openxmlformats.org/officeDocument/2006/relationships/image" Target="../media/image221.jp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jp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5.jpg"/><Relationship Id="rId4" Type="http://schemas.openxmlformats.org/officeDocument/2006/relationships/image" Target="../media/image224.jp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6.jp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8.jpg"/><Relationship Id="rId4" Type="http://schemas.openxmlformats.org/officeDocument/2006/relationships/image" Target="../media/image227.jp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9.jp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1.jpg"/><Relationship Id="rId4" Type="http://schemas.openxmlformats.org/officeDocument/2006/relationships/image" Target="../media/image230.jp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2.jp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4.jpg"/><Relationship Id="rId4" Type="http://schemas.openxmlformats.org/officeDocument/2006/relationships/image" Target="../media/image233.jp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jp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7.jpg"/><Relationship Id="rId4" Type="http://schemas.openxmlformats.org/officeDocument/2006/relationships/image" Target="../media/image236.jp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8.jp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0.jpg"/><Relationship Id="rId4" Type="http://schemas.openxmlformats.org/officeDocument/2006/relationships/image" Target="../media/image239.jp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jp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2.jp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5.png"/><Relationship Id="rId4" Type="http://schemas.openxmlformats.org/officeDocument/2006/relationships/image" Target="../media/image244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6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8.png"/><Relationship Id="rId4" Type="http://schemas.openxmlformats.org/officeDocument/2006/relationships/image" Target="../media/image247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9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1.png"/><Relationship Id="rId4" Type="http://schemas.openxmlformats.org/officeDocument/2006/relationships/image" Target="../media/image250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jp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4.jpg"/><Relationship Id="rId4" Type="http://schemas.openxmlformats.org/officeDocument/2006/relationships/image" Target="../media/image253.jp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5.jp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7.jpg"/><Relationship Id="rId4" Type="http://schemas.openxmlformats.org/officeDocument/2006/relationships/image" Target="../media/image256.jp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8.jp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0.jpg"/><Relationship Id="rId4" Type="http://schemas.openxmlformats.org/officeDocument/2006/relationships/image" Target="../media/image259.jp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1.jp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3.jpg"/><Relationship Id="rId4" Type="http://schemas.openxmlformats.org/officeDocument/2006/relationships/image" Target="../media/image262.jp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4.jp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7.jpg"/><Relationship Id="rId5" Type="http://schemas.openxmlformats.org/officeDocument/2006/relationships/image" Target="../media/image266.jpg"/><Relationship Id="rId4" Type="http://schemas.openxmlformats.org/officeDocument/2006/relationships/image" Target="../media/image265.jp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8.jp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0.jpg"/><Relationship Id="rId4" Type="http://schemas.openxmlformats.org/officeDocument/2006/relationships/image" Target="../media/image269.jp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1.jp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3.jpg"/><Relationship Id="rId4" Type="http://schemas.openxmlformats.org/officeDocument/2006/relationships/image" Target="../media/image272.jp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4.jp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6.jpg"/><Relationship Id="rId4" Type="http://schemas.openxmlformats.org/officeDocument/2006/relationships/image" Target="../media/image275.jp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7.jp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9.jpg"/><Relationship Id="rId4" Type="http://schemas.openxmlformats.org/officeDocument/2006/relationships/image" Target="../media/image278.jp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jp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2.jpg"/><Relationship Id="rId4" Type="http://schemas.openxmlformats.org/officeDocument/2006/relationships/image" Target="../media/image281.jp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3.jp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5.jpg"/><Relationship Id="rId4" Type="http://schemas.openxmlformats.org/officeDocument/2006/relationships/image" Target="../media/image284.jp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6.jp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8.jpg"/><Relationship Id="rId4" Type="http://schemas.openxmlformats.org/officeDocument/2006/relationships/image" Target="../media/image287.jp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9.jp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1.jpg"/><Relationship Id="rId4" Type="http://schemas.openxmlformats.org/officeDocument/2006/relationships/image" Target="../media/image29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"/>
          <p:cNvSpPr txBox="1">
            <a:spLocks noGrp="1"/>
          </p:cNvSpPr>
          <p:nvPr>
            <p:ph type="subTitle" idx="1"/>
          </p:nvPr>
        </p:nvSpPr>
        <p:spPr>
          <a:xfrm>
            <a:off x="16256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Setting up slices and coverage</a:t>
            </a:r>
            <a:endParaRPr/>
          </a:p>
        </p:txBody>
      </p:sp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914400" y="200788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Narrow"/>
              <a:buNone/>
            </a:pPr>
            <a:r>
              <a:rPr lang="en-US"/>
              <a:t>MRI PLANNING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" descr="H:\desktopbackup5.5.16\Protocols\Images\BRAIN_1.MR.0107.0001.2016.05.05.14.12.59.791755.27298027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51531" y="3565945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" descr="H:\desktopbackup5.5.16\Protocols\Images\BRAIN_1.MR.0108.0001.2016.05.05.14.12.59.791755.27298059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84661" y="3565945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2" descr="H:\desktopbackup5.5.16\Protocols\Images\BRAIN_1.MR.0106.0001.2016.05.05.14.12.59.791755.27297995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20411" y="3565945"/>
            <a:ext cx="2743200" cy="2743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6" name="Google Shape;96;p2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93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9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4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from just above the head to the second vertebral body and entire brain from P to A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with the longitudinal fissure to cover entire brain L to R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with the longitudinal fissure to cover entire brain L to R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BRAIN-CENTER TO GLABELLA</a:t>
            </a:r>
            <a:endParaRPr/>
          </a:p>
        </p:txBody>
      </p:sp>
      <p:sp>
        <p:nvSpPr>
          <p:cNvPr id="98" name="Google Shape;98;p2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Sagittal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3" descr="H:\desktopbackup5.5.16\Protocols\Images\BRAIN_1.MR.0110.0001.2016.05.05.14.12.59.791755.27298123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09160" y="3749675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3" descr="H:\desktopbackup5.5.16\Protocols\Images\BRAIN_1.MR.0111.0001.2016.05.05.14.12.59.791755.27298155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52360" y="3754828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3" descr="H:\desktopbackup5.5.16\Protocols\Images\BRAIN_1.MR.0109.0001.2016.05.05.14.12.59.791755.27298091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19656" y="3780142"/>
            <a:ext cx="2743200" cy="2743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6" name="Google Shape;106;p3"/>
          <p:cNvGraphicFramePr/>
          <p:nvPr/>
        </p:nvGraphicFramePr>
        <p:xfrm>
          <a:off x="1828801" y="21923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94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1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7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using the inferior aspect of the Genu and Splenium for reference and cover the brain from the top of the skull through the foramen magnum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longitudinal fissure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the entire brain from L to R and P to A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7" name="Google Shape;107;p3"/>
          <p:cNvSpPr/>
          <p:nvPr/>
        </p:nvSpPr>
        <p:spPr>
          <a:xfrm>
            <a:off x="4103914" y="2449234"/>
            <a:ext cx="1458765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8" name="Google Shape;108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3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BRAIN</a:t>
            </a:r>
            <a:endParaRPr/>
          </a:p>
        </p:txBody>
      </p:sp>
      <p:sp>
        <p:nvSpPr>
          <p:cNvPr id="109" name="Google Shape;109;p3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Axial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4" descr="H:\desktopbackup5.5.16\Protocols\Images\BRAIN_1.MR.0112.0001.2016.05.05.14.12.59.791755.27298187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81206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4" descr="H:\desktopbackup5.5.16\Protocols\Images\BRAIN_1.MR.0114.0001.2016.05.05.14.12.59.791755.27298251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81293" y="3781206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4" descr="H:\desktopbackup5.5.16\Protocols\Images\BRAIN_1.MR.0113.0001.2016.05.05.14.12.59.791755.27298219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48200" y="3781206"/>
            <a:ext cx="2743200" cy="2743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7" name="Google Shape;117;p4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82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1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the midbrain and cover entire brain P to A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from just above the head to the second vertebral body and entire brain from L to R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longitudinal fissure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8" name="Google Shape;118;p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BRAIN</a:t>
            </a:r>
            <a:endParaRPr/>
          </a:p>
        </p:txBody>
      </p:sp>
      <p:sp>
        <p:nvSpPr>
          <p:cNvPr id="119" name="Google Shape;119;p4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Coronal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5" descr="C:\Users\sawatson\Desktop\Images\BRAIN_1.MR.0118.0001.2016.05.05.14.12.59.791755.27298379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50835" y="3861023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5" descr="C:\Users\sawatson\Desktop\Images\BRAIN_1.MR.0119.0001.2016.05.05.14.12.59.791755.27298411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83017" y="3861023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5" descr="C:\Users\sawatson\Desktop\Images\BRAIN_1.MR.0120.0001.2016.05.05.14.12.59.791755.27298443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49755" y="3842921"/>
            <a:ext cx="2743200" cy="2743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7" name="Google Shape;127;p5"/>
          <p:cNvGraphicFramePr/>
          <p:nvPr/>
        </p:nvGraphicFramePr>
        <p:xfrm>
          <a:off x="1828800" y="22860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6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7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midbrain and cover entire brain P to A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with the IAC’s and cover from above the IAC’s to the foramen magnum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the entire brain from L to R and P to A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8" name="Google Shape;128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BRAIN &amp; IAC’S</a:t>
            </a:r>
            <a:endParaRPr/>
          </a:p>
        </p:txBody>
      </p:sp>
      <p:sp>
        <p:nvSpPr>
          <p:cNvPr id="129" name="Google Shape;129;p5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Axial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6" descr="C:\Users\sawatson\Desktop\Images\BRAIN_1.MR.0115.0001.2016.05.05.14.12.59.791755.27298283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42056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6" descr="C:\Users\sawatson\Desktop\Images\BRAIN_1.MR.0116.0001.2016.05.05.14.12.59.791755.27298315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96329" y="3742056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6" descr="C:\Users\sawatson\Desktop\Images\BRAIN_1.MR.0117.0001.2016.05.05.14.12.59.791755.27298347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63859" y="3742056"/>
            <a:ext cx="2743200" cy="2743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7" name="Google Shape;137;p6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98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4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the midbrain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the entire brain from L to R and S to I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with the IAC’s and cover from the sella to the fourth ventricle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8" name="Google Shape;138;p6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BRAIN &amp; IAC’S</a:t>
            </a:r>
            <a:endParaRPr/>
          </a:p>
        </p:txBody>
      </p:sp>
      <p:sp>
        <p:nvSpPr>
          <p:cNvPr id="139" name="Google Shape;139;p6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Coronal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7" descr="C:\Users\sawatson\Desktop\Images\BRAIN_1.MR.0126.0001.2016.05.05.14.12.59.791755.27298673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799" y="3774508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7" descr="C:\Users\sawatson\Desktop\Images\BRAIN_1.MR.0127.0001.2016.05.05.14.12.59.791755.27298705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20491" y="3774508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7" descr="C:\Users\sawatson\Desktop\Images\BRAIN_1.MR.0128.0001.2016.05.05.14.12.59.791755.27298737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12181" y="3774508"/>
            <a:ext cx="2743200" cy="2743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7" name="Google Shape;147;p7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8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entire pituitary gland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with the longitudinal fissure and cover medial portion of temporal lobes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with the longitudinal fissure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8" name="Google Shape;148;p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BRAIN &amp; PITUITARY</a:t>
            </a:r>
            <a:endParaRPr/>
          </a:p>
        </p:txBody>
      </p:sp>
      <p:sp>
        <p:nvSpPr>
          <p:cNvPr id="149" name="Google Shape;149;p7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Sagittal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8" descr="C:\Users\sawatson\Desktop\Images\DF_1.MR.0100.0001.2016.12.13.11.33.19.911312.247226061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51353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8" descr="C:\Users\sawatson\Desktop\Images\DF_1.MR.0102.0001.2016.12.13.11.33.19.911312.247226132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58593" y="3751353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8" descr="C:\Users\sawatson\Desktop\Images\DF_1.MR.0101.0001.2016.12.13.11.33.19.911312.247226099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26036" y="3751353"/>
            <a:ext cx="2743200" cy="2743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7" name="Google Shape;157;p8"/>
          <p:cNvGraphicFramePr/>
          <p:nvPr/>
        </p:nvGraphicFramePr>
        <p:xfrm>
          <a:off x="1828801" y="22860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9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5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the midbrain and cover from the sphenoid sinus through the infundibulum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the entire pituitary gland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longitudinal fissure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8" name="Google Shape;158;p8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BRAIN &amp; PITUITARY</a:t>
            </a:r>
            <a:endParaRPr/>
          </a:p>
        </p:txBody>
      </p:sp>
      <p:sp>
        <p:nvSpPr>
          <p:cNvPr id="159" name="Google Shape;159;p8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Coronal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9" descr="H:\desktopbackup5.5.16\Protocols\Images\BRAIN_1.MR.0122.0001.2016.05.05.14.12.59.791755.27298543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42909" y="3699348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9" descr="H:\desktopbackup5.5.16\Protocols\Images\BRAIN_1.MR.0116.0001.2016.05.05.14.12.59.791755.27298315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85855" y="3699348"/>
            <a:ext cx="2743200" cy="2743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6" name="Google Shape;166;p9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3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with optic nerves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bilateral optic nerves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with optic nerves and cover from the cornea through the optic chiasm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67" name="Google Shape;167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52247" y="3699348"/>
            <a:ext cx="2733608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9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BRAIN &amp; ORBITS</a:t>
            </a:r>
            <a:endParaRPr/>
          </a:p>
        </p:txBody>
      </p:sp>
      <p:sp>
        <p:nvSpPr>
          <p:cNvPr id="169" name="Google Shape;169;p9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Coronal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0" descr="H:\desktopbackup5.5.16\Protocols\Images\BRAIN_1.MR.0125.0001.2016.05.05.14.12.59.791755.27298605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70619" y="3649228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0" descr="H:\desktopbackup5.5.16\Protocols\Images\BRAIN_1.MR.0124.0001.2016.05.05.14.12.59.791755.27298573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99709" y="3649228"/>
            <a:ext cx="2743200" cy="2743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6" name="Google Shape;176;p10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8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04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0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with optic nerve and cover from the floor of the orbits to the roof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bilateral optic nerves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from the cornea through the optic chiasm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77" name="Google Shape;177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58107" y="3649228"/>
            <a:ext cx="2741603" cy="275157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0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BRAIN &amp; ORBITS</a:t>
            </a:r>
            <a:endParaRPr/>
          </a:p>
        </p:txBody>
      </p:sp>
      <p:sp>
        <p:nvSpPr>
          <p:cNvPr id="179" name="Google Shape;179;p10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Axial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1" descr="C:\Users\sawatson\Desktop\Images\HEAD1_1.MR.0105.0001.2016.05.19.14.17.50.965966.41711453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22831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1" descr="C:\Users\sawatson\Desktop\Images\HEAD1_1.MR.0106.0001.2016.05.19.14.17.50.965966.41711485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20489" y="3722831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1" descr="C:\Users\sawatson\Desktop\Images\HEAD1_1.MR.0107.0001.2016.05.19.14.17.50.965966.41711521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12179" y="3722831"/>
            <a:ext cx="2743200" cy="2743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7" name="Google Shape;187;p11"/>
          <p:cNvGraphicFramePr/>
          <p:nvPr/>
        </p:nvGraphicFramePr>
        <p:xfrm>
          <a:off x="1828801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8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temporal lobes covering through the brain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from just above the head to the second vertebral body and entire brain from L to R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temporal lobes covering from through the brain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8" name="Google Shape;188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BRAIN FOR SIEZURE</a:t>
            </a:r>
            <a:endParaRPr/>
          </a:p>
        </p:txBody>
      </p:sp>
      <p:sp>
        <p:nvSpPr>
          <p:cNvPr id="189" name="Google Shape;189;p11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Coronal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12" descr="C:\Users\sawatson\Desktop\Images\HEAD1_1.MR.0110.0001.2016.05.19.14.17.50.965966.41711619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91401" y="3740908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2" descr="C:\Users\sawatson\Desktop\Images\HEAD1_1.MR.0109.0001.2016.05.19.14.17.50.965966.41711583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10100" y="371338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2" descr="C:\Users\sawatson\Desktop\Images\HEAD1_1.MR.0108.0001.2016.05.19.14.17.50.965966.41711551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28800" y="3740908"/>
            <a:ext cx="2743200" cy="2743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7" name="Google Shape;197;p12"/>
          <p:cNvGraphicFramePr/>
          <p:nvPr/>
        </p:nvGraphicFramePr>
        <p:xfrm>
          <a:off x="1828801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brain stem and cover from foramen magnum to just above corpus callosum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longitudinal fissure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the entire brain from L to R and P to A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8" name="Google Shape;198;p1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MRA HEAD-CENTER AT GLABELLA</a:t>
            </a:r>
            <a:endParaRPr/>
          </a:p>
        </p:txBody>
      </p:sp>
      <p:sp>
        <p:nvSpPr>
          <p:cNvPr id="199" name="Google Shape;199;p12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Axial 3D TOF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" name="Google Shape;204;p13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head and cover from foramen magnum to just above scalp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longitudinal fissure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the entire head from L to R and P to A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05" name="Google Shape;20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69364" y="3749040"/>
            <a:ext cx="3069771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MRV HEAD</a:t>
            </a:r>
            <a:endParaRPr/>
          </a:p>
        </p:txBody>
      </p:sp>
      <p:sp>
        <p:nvSpPr>
          <p:cNvPr id="209" name="Google Shape;209;p13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Axial 2D TOF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4" name="Google Shape;214;p14"/>
          <p:cNvGraphicFramePr/>
          <p:nvPr/>
        </p:nvGraphicFramePr>
        <p:xfrm>
          <a:off x="1828800" y="22860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the brain stem and cover entire head P to A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the entire head from L to R and P to A 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 Narrow"/>
                        <a:buNone/>
                      </a:pPr>
                      <a:r>
                        <a:rPr lang="en-US" sz="1100" u="none" strike="noStrike" cap="none"/>
                        <a:t>align perpendicular to the longitudinal fissure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15" name="Google Shape;215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5793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5793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75793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MRV HEAD</a:t>
            </a:r>
            <a:endParaRPr/>
          </a:p>
        </p:txBody>
      </p:sp>
      <p:sp>
        <p:nvSpPr>
          <p:cNvPr id="219" name="Google Shape;219;p14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Coronal 2D TOF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4" name="Google Shape;224;p15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from just above the head to the second vertebral body and entire brain from P to A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with the longitudinal fissure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with the longitudinal fissure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25" name="Google Shape;22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MRV HEAD</a:t>
            </a:r>
            <a:endParaRPr/>
          </a:p>
        </p:txBody>
      </p:sp>
      <p:sp>
        <p:nvSpPr>
          <p:cNvPr id="229" name="Google Shape;229;p15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Sagittal PC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4" name="Google Shape;234;p16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carotid arteries - center at bifurcation and cover 2 inches above and below carotid arteries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carotid arteries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the entire neck from L to R and P to A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35" name="Google Shape;235;p16" descr="C:\Users\sawatson\Desktop\Images\C_1.MR.0100.0001.2016.06.01.12.56.18.296875.454383317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41231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6" descr="C:\Users\sawatson\Desktop\Images\C_1.MR.0101.0001.2016.06.01.12.56.18.296875.454383369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03695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6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MRA NECK CENTER AT C4</a:t>
            </a:r>
            <a:endParaRPr/>
          </a:p>
        </p:txBody>
      </p:sp>
      <p:sp>
        <p:nvSpPr>
          <p:cNvPr id="238" name="Google Shape;238;p16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Axial 2D TOF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3" name="Google Shape;243;p17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carotid arteries - center at bifurcation and cover 2 inches above and below carotid arteries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carotid arteries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the entire neck from L to R and P to A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44" name="Google Shape;244;p17" descr="C:\Users\sawatson\Desktop\Images\C_1.MR.0102.0001.2016.06.01.12.56.18.296875.454383497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95631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7" descr="C:\Users\sawatson\Desktop\Images\C_1.MR.0103.0001.2016.06.01.12.56.18.296875.454383551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52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MRA NECK</a:t>
            </a:r>
            <a:endParaRPr/>
          </a:p>
        </p:txBody>
      </p:sp>
      <p:sp>
        <p:nvSpPr>
          <p:cNvPr id="247" name="Google Shape;247;p17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Axial 3D TOF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2" name="Google Shape;252;p18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the carotid arteries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from the arch of the heart to the Circle of Willis to include both right and left carotid and vertebral arteries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the carotid arteries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53" name="Google Shape;253;p18" descr="C:\Users\sawatson\Desktop\Images\C_1.MR.0110.0001.2016.06.01.12.56.18.296875.454402582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40258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8" descr="C:\Users\sawatson\Desktop\Images\C_1.MR.0111.0001.2016.06.01.12.56.18.296875.454402634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40258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8" descr="C:\Users\sawatson\Desktop\Images\C_1.MR.0112.0001.2016.06.01.12.56.18.296875.454402688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740258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8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MRA NECK</a:t>
            </a:r>
            <a:endParaRPr/>
          </a:p>
        </p:txBody>
      </p:sp>
      <p:sp>
        <p:nvSpPr>
          <p:cNvPr id="257" name="Google Shape;257;p18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Axial 2D TOF GLOBAL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2" name="Google Shape;262;p19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the carotid arteries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from the arch of the heart to the Circle of Willis to include both right and left carotid and vertebral arteries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the carotid arteries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63" name="Google Shape;263;p19" descr="C:\Users\sawatson\Desktop\Images\C_1.MR.0104.0001.2016.06.01.12.56.18.296875.454383611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5793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9" descr="C:\Users\sawatson\Desktop\Images\C_1.MR.0105.0001.2016.06.01.12.56.18.296875.454383658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5793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9" descr="C:\Users\sawatson\Desktop\Images\C_1.MR.0112.0001.2016.06.01.12.56.18.296875.454402688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75793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9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MRA NECK</a:t>
            </a:r>
            <a:endParaRPr/>
          </a:p>
        </p:txBody>
      </p:sp>
      <p:sp>
        <p:nvSpPr>
          <p:cNvPr id="267" name="Google Shape;267;p19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Coronal 3D Contrast Enhanced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2" name="Google Shape;272;p20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the abdominal aorta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from the diaphragm to include both right and left proximal iliac arteries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orthogonally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73" name="Google Shape;273;p20" descr="E:\NON_DICOM_ANONYM_FILES\RENAL_1.MR.0104.0001.2018.03.01.07.08.22.24989.602120015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565144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0" descr="E:\NON_DICOM_ANONYM_FILES\RENAL_1.MR.0105.0001.2018.03.01.07.08.22.24989.602120049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565144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0" descr="E:\NON_DICOM_ANONYM_FILES\RENAL_1.MR.0106.0001.2018.03.01.07.08.22.24989.602120083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565144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0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MRA RENAL ARTIERIES CENTER AT L2</a:t>
            </a:r>
            <a:endParaRPr/>
          </a:p>
        </p:txBody>
      </p:sp>
      <p:sp>
        <p:nvSpPr>
          <p:cNvPr id="277" name="Google Shape;277;p20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Coronal 3D Contrast Enhanced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2" name="Google Shape;282;p21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orthogonally to cover above the aortic arch to just below diaphragm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orthogonally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include Thoracic and Descending Aorta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83" name="Google Shape;283;p21" descr="A close up of a cat in front of a wire fence&#10;&#10;Description generated with high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1" descr="A picture containing looking&#10;&#10;Description generated with high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1" descr="A picture containing animal, invertebrate, black&#10;&#10;Description generated with high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MRA AORTA CENTER AT T7</a:t>
            </a:r>
            <a:endParaRPr/>
          </a:p>
        </p:txBody>
      </p:sp>
      <p:sp>
        <p:nvSpPr>
          <p:cNvPr id="287" name="Google Shape;287;p21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Axial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2" name="Google Shape;292;p22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 with angle of the aortic arch 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above the aortic arch to just below diaphragm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orthogonally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93" name="Google Shape;293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5200" y="3761481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2" descr="A close up of a black background&#10;&#10;Description generated with high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61481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2" descr="A picture containing indoor&#10;&#10;Description generated with very high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28800" y="3761481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MRA AORTA</a:t>
            </a:r>
            <a:endParaRPr/>
          </a:p>
        </p:txBody>
      </p:sp>
      <p:sp>
        <p:nvSpPr>
          <p:cNvPr id="297" name="Google Shape;297;p22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Sagittal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2" name="Google Shape;302;p23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from sella to aortic arch and entire soft tissue neck P to A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cervical spine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spinous process of the cervical spine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03" name="Google Shape;303;p23" descr="E:\NON_DICOM_ANONYM_FILES\STN_1.MR.0101.0001.2018.03.01.07.07.51.531245.601589924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3" descr="E:\NON_DICOM_ANONYM_FILES\STN_1.MR.0102.0001.2018.03.01.07.07.51.531245.601589959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3" descr="E:\NON_DICOM_ANONYM_FILES\STN_1.MR.0103.0001.2018.03.01.07.07.51.531245.601589997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SOFT TISSUE NECK CENTER AT C4</a:t>
            </a:r>
            <a:endParaRPr/>
          </a:p>
        </p:txBody>
      </p:sp>
      <p:sp>
        <p:nvSpPr>
          <p:cNvPr id="307" name="Google Shape;307;p23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Sagittal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2" name="Google Shape;312;p24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cervical spine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from sella to aortic arch and entire soft tissue neck L to R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spinous process of the cervical spine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13" name="Google Shape;313;p24" descr="E:\NON_DICOM_ANONYM_FILES\SOFTY_1.MR.0102.0001.2018.03.01.07.07.23.760656.601636159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20855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4" descr="E:\NON_DICOM_ANONYM_FILES\SOFTY_1.MR.0103.0001.2018.03.01.07.07.23.760656.601636195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201" y="3720855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4" descr="F:\NON_DICOM_ANONYM_FILES\NECK_1.MR.0105.0001.2018.03.02.10.58.36.452926.602858437.JPEG"/>
          <p:cNvPicPr preferRelativeResize="0"/>
          <p:nvPr/>
        </p:nvPicPr>
        <p:blipFill rotWithShape="1">
          <a:blip r:embed="rId5">
            <a:alphaModFix/>
          </a:blip>
          <a:srcRect l="17308" t="13165" r="12820" b="20687"/>
          <a:stretch/>
        </p:blipFill>
        <p:spPr>
          <a:xfrm>
            <a:off x="7155402" y="3720855"/>
            <a:ext cx="2902999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SOFT TISSUE NECK</a:t>
            </a:r>
            <a:endParaRPr/>
          </a:p>
        </p:txBody>
      </p:sp>
      <p:sp>
        <p:nvSpPr>
          <p:cNvPr id="317" name="Google Shape;317;p24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Coronal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2" name="Google Shape;322;p25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cervical spine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cervical spine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affected area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23" name="Google Shape;323;p25" descr="E:\NON_DICOM_ANONYM_FILES\STN_1.MR.0104.0001.2018.03.01.07.07.51.531245.601590030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23836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5" descr="E:\NON_DICOM_ANONYM_FILES\SOFTY_1.MR.0105.0001.2018.03.01.07.07.23.760656.601636301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23836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5" descr="F:\NON_DICOM_ANONYM_FILES\NECK_1.MR.0104.0001.2018.03.02.10.58.36.452926.602858403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723836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SOFT TISSUE NECK</a:t>
            </a:r>
            <a:endParaRPr/>
          </a:p>
        </p:txBody>
      </p:sp>
      <p:sp>
        <p:nvSpPr>
          <p:cNvPr id="327" name="Google Shape;327;p25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Axial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2" name="Google Shape;332;p26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affected area or from C4 to T2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cervical spine and cover the middle of cervical spine to shoulder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orthogonally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33" name="Google Shape;333;p26" descr="C:\Users\sawatson\Desktop\Images\BP_1.MR.0106.0001.2016.05.25.07.36.06.198750.47141306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6" descr="C:\Users\sawatson\Desktop\Images\BP_1.MR.0107.0001.2016.05.25.07.36.06.198750.47141337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6" descr="C:\Users\sawatson\Desktop\Images\BP_1.MR.0108.0001.2016.05.25.07.36.06.198750.47141368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6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BRACHIAL PLEXUS CENTER AT C4</a:t>
            </a:r>
            <a:endParaRPr/>
          </a:p>
        </p:txBody>
      </p:sp>
      <p:sp>
        <p:nvSpPr>
          <p:cNvPr id="337" name="Google Shape;337;p26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Sagittal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2" name="Google Shape;342;p27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cervical spine and cover the middle of cervical spine to shoulder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affected area or from C4 to T2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orthogonally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43" name="Google Shape;343;p27" descr="C:\Users\sawatson\Desktop\Images\BP_1.MR.0100.0001.2016.05.25.07.36.06.198750.47141120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30673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7" descr="C:\Users\sawatson\Desktop\Images\BP_1.MR.0101.0001.2016.05.25.07.36.06.198750.47141151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7" descr="C:\Users\sawatson\Desktop\Images\BP_1.MR.0102.0001.2016.05.25.07.36.06.198750.47141182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767407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BRACHIAL PLEXUS</a:t>
            </a:r>
            <a:endParaRPr/>
          </a:p>
        </p:txBody>
      </p:sp>
      <p:sp>
        <p:nvSpPr>
          <p:cNvPr id="347" name="Google Shape;347;p27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Coronal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2" name="Google Shape;352;p28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cervical spine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cervical spine and cover the middle of cervical spine to shoulder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affected area or from C4 to T2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53" name="Google Shape;353;p28" descr="C:\Users\sawatson\Desktop\Images\BP_1.MR.0104.0001.2016.05.25.07.36.06.198750.47141244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8" descr="C:\Users\sawatson\Desktop\Images\BP_1.MR.0105.0001.2016.05.25.07.36.06.198750.47141275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8" descr="F:\NON_DICOM_ANONYM_FILES\BRACH_1.MR.0100.0001.2018.03.02.13.55.25.112707.603161759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28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BRACHIAL PLEXUS</a:t>
            </a:r>
            <a:endParaRPr/>
          </a:p>
        </p:txBody>
      </p:sp>
      <p:sp>
        <p:nvSpPr>
          <p:cNvPr id="357" name="Google Shape;357;p28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Axial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2" name="Google Shape;362;p29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from the foramen magnum to second thoracic vertebrae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cervical spine and cover through the neural foramen of each disc space L to R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orthogonally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63" name="Google Shape;363;p29" descr="C:\Users\sawatson\Desktop\Images\CSPINE_1.MR.0101.0001.2016.05.05.14.10.51.208400.26340607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31979" y="3565144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9" descr="C:\Users\sawatson\Desktop\Images\CSPINE_1.MR.0102.0001.2016.05.05.14.10.51.208400.26340640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35724" y="3565144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29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CERVICAL SPINE CENTER AT C4</a:t>
            </a:r>
            <a:endParaRPr/>
          </a:p>
        </p:txBody>
      </p:sp>
      <p:sp>
        <p:nvSpPr>
          <p:cNvPr id="366" name="Google Shape;366;p29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Sagittal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1" name="Google Shape;371;p30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cervical spine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from the foramen magnum to second thoracic vertebrae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spinous process of the cervical spine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72" name="Google Shape;372;p30" descr="F:\NON_DICOM_ANONYM_FILES\NECK_1.MR.0102.0001.2018.03.02.10.58.36.452926.602858335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0" descr="F:\NON_DICOM_ANONYM_FILES\NECK_1.MR.0101.0001.2018.03.02.10.58.36.452926.602858301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0" descr="F:\NON_DICOM_ANONYM_FILES\NECK_1.MR.0103.0001.2018.03.02.10.58.36.452926.602858369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0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CERVICAL SPINE</a:t>
            </a:r>
            <a:endParaRPr/>
          </a:p>
        </p:txBody>
      </p:sp>
      <p:sp>
        <p:nvSpPr>
          <p:cNvPr id="376" name="Google Shape;376;p30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Coronal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1" name="Google Shape;381;p31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cervical spine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cervical spine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the cervical spine and nerve roots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82" name="Google Shape;382;p31" descr="C:\Users\sawatson\Desktop\Images\CSPINE_1.MR.0104.0001.2016.05.05.14.10.51.208400.26340706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1" descr="C:\Users\sawatson\Desktop\Images\CSPINE_1.MR.0103.0001.2016.05.05.14.10.51.208400.26340673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31" descr="F:\NON_DICOM_ANONYM_FILES\NECK_1.MR.0104.0001.2018.03.02.10.58.36.452926.602858403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CERVICAL SPINE</a:t>
            </a:r>
            <a:endParaRPr/>
          </a:p>
        </p:txBody>
      </p:sp>
      <p:sp>
        <p:nvSpPr>
          <p:cNvPr id="386" name="Google Shape;386;p31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Axial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1" name="Google Shape;391;p32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from the body of C7 to the body of L1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thoracic spine and cover through the neural foramen of each disc space L to R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orthogonally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92" name="Google Shape;392;p32" descr="C:\Users\sawatson\Desktop\Images\TSPINE_1.MR.0105.0001.2016.05.09.13.54.16.344240.30887430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07659" y="3565144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32" descr="C:\Users\sawatson\Desktop\Images\TSPINE_1.MR.0102.0001.2016.05.09.13.54.16.344240.30887394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44119" y="3565144"/>
            <a:ext cx="1748223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THORACIC SPINE</a:t>
            </a:r>
            <a:endParaRPr/>
          </a:p>
        </p:txBody>
      </p:sp>
      <p:sp>
        <p:nvSpPr>
          <p:cNvPr id="395" name="Google Shape;395;p32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Sagittal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0" name="Google Shape;400;p33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thoracic spine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from the body of C7 to the body of L1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spinous process of the thoracic spine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01" name="Google Shape;401;p33" descr="A cat that is looking at the camera&#10;&#10;Description generated with high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33" descr="A person wearing a suit and tie&#10;&#10;Description generated with very high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THORACIC SPINE</a:t>
            </a:r>
            <a:endParaRPr/>
          </a:p>
        </p:txBody>
      </p:sp>
      <p:sp>
        <p:nvSpPr>
          <p:cNvPr id="405" name="Google Shape;405;p33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Coronal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0" name="Google Shape;410;p34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thoracic spine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thoracic spine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the thoracic spine and nerve roots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11" name="Google Shape;411;p34" descr="C:\Users\sawatson\Desktop\Images\TSPINE_1.MR.0106.0001.2016.05.09.13.54.16.344240.30887465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59464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34" descr="C:\Users\sawatson\Desktop\Images\TSPINE_1.MR.0107.0001.2016.05.09.13.54.16.344240.30887501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24835" y="370840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3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THORACIC SPINE</a:t>
            </a:r>
            <a:endParaRPr/>
          </a:p>
        </p:txBody>
      </p:sp>
      <p:sp>
        <p:nvSpPr>
          <p:cNvPr id="414" name="Google Shape;414;p34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Axial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" name="Google Shape;419;p35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from the body of T12 to the body S2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lumbar spine and cover through the neural foramen of each disc space L to R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orthogonally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20" name="Google Shape;420;p35" descr="C:\Users\sawatson\Desktop\Images\LS_1.MR.0100.0001.2016.05.24.12.03.03.235862.46818144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69511" y="3565144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35" descr="C:\Users\sawatson\Desktop\Images\LS_1.MR.0101.0001.2016.05.24.12.03.03.235862.46818177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53420" y="3565144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3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LUMBAR SPINE CENTER AT L3</a:t>
            </a:r>
            <a:endParaRPr/>
          </a:p>
        </p:txBody>
      </p:sp>
      <p:sp>
        <p:nvSpPr>
          <p:cNvPr id="423" name="Google Shape;423;p35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Sagittal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8" name="Google Shape;428;p36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lumbar spine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from the body of C7 to the body of L1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spinous process of the lumbar spine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29" name="Google Shape;429;p36" descr="E:\NON_DICOM_ANONYM_FILES\LSPINE_1.MR.0100.0001.2018.03.01.08.23.17.857136.602175381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36" descr="E:\NON_DICOM_ANONYM_FILES\LSPINE_1.MR.0101.0001.2018.03.01.08.23.17.857136.602175414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54789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36" descr="E:\NON_DICOM_ANONYM_FILES\LSPINE_1.MR.0102.0001.2018.03.01.08.23.17.857136.602175450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36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LUMBAR SPINE</a:t>
            </a:r>
            <a:endParaRPr/>
          </a:p>
        </p:txBody>
      </p:sp>
      <p:sp>
        <p:nvSpPr>
          <p:cNvPr id="433" name="Google Shape;433;p36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Coronal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8" name="Google Shape;438;p37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lumbar spine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lumbar spine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the lumbar spine and nerve roots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39" name="Google Shape;439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04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9975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3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LUMBAR SPINE</a:t>
            </a:r>
            <a:endParaRPr/>
          </a:p>
        </p:txBody>
      </p:sp>
      <p:sp>
        <p:nvSpPr>
          <p:cNvPr id="442" name="Google Shape;442;p37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Axial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7" name="Google Shape;447;p38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from the body of L5 to coccyx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SI joints to cover through entire sacrum from L to R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SI joints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48" name="Google Shape;448;p38" descr="E:\NON_DICOM_ANONYM_FILES\SAGSAC_1.MR.0100.0001.2018.03.01.08.22.44.367220.601732457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38" descr="E:\NON_DICOM_ANONYM_FILES\SAGSAC_1.MR.0101.0001.2018.03.01.08.22.44.367220.601732489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8" descr="E:\NON_DICOM_ANONYM_FILES\SAGSAC_1.MR.0102.0001.2018.03.01.08.22.44.367220.601732525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38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SACRUM CENTER AS ASIS</a:t>
            </a:r>
            <a:endParaRPr/>
          </a:p>
        </p:txBody>
      </p:sp>
      <p:sp>
        <p:nvSpPr>
          <p:cNvPr id="452" name="Google Shape;452;p38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Sagittal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39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sacrum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from the body of L5 to coccyx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sacrum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58" name="Google Shape;458;p39" descr="C:\Users\sawatson\Desktop\Images\SC_1.MR.0100.0001.2016.05.25.12.04.57.48381.47811196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39" descr="C:\Users\sawatson\Desktop\Images\SC_1.MR.0102.0001.2016.05.25.12.04.57.48381.47811266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39" descr="C:\Users\sawatson\Desktop\Images\SC_1.MR.0101.0001.2016.05.25.12.04.57.48381.47811231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9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SACRUM</a:t>
            </a:r>
            <a:endParaRPr/>
          </a:p>
        </p:txBody>
      </p:sp>
      <p:sp>
        <p:nvSpPr>
          <p:cNvPr id="462" name="Google Shape;462;p39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Coronal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7" name="Google Shape;467;p40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sacrum to cover from the body of L5 to coccyx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sacrum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the SI joints to cover through entire sacrum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68" name="Google Shape;468;p40" descr="C:\Users\sawatson\Desktop\Images\SC_1.MR.0103.0001.2016.05.25.12.04.57.48381.47811301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40" descr="C:\Users\sawatson\Desktop\Images\SC_1.MR.0104.0001.2016.05.25.12.04.57.48381.47811336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40" descr="C:\Users\sawatson\Desktop\Images\SC_1.MR.0105.0001.2016.05.25.12.04.57.48381.47811371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40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SACRUM</a:t>
            </a:r>
            <a:endParaRPr/>
          </a:p>
        </p:txBody>
      </p:sp>
      <p:sp>
        <p:nvSpPr>
          <p:cNvPr id="472" name="Google Shape;472;p40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Axial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7" name="Google Shape;477;p41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orthogonally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the entire pelvis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alignment parallel to a line across the roof each acetabulum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78" name="Google Shape;478;p41" descr="C:\Users\sawatson\Desktop\Images\BONE4_1.MR.0002.0012.2016.06.08.11.07.56.207543.62121280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41" descr="C:\Users\sawatson\Desktop\Images\BONE5_1.MR.0003.0015.2016.06.08.11.08.12.625482.62121344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50887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41" descr="C:\Users\sawatson\Desktop\Images\BONE6_1.MR.0004.0013.2016.06.08.11.08.38.571966.36957671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4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 PELVIS CENTER AT ASIS</a:t>
            </a:r>
            <a:endParaRPr/>
          </a:p>
        </p:txBody>
      </p:sp>
      <p:sp>
        <p:nvSpPr>
          <p:cNvPr id="482" name="Google Shape;482;p41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Coronal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7" name="Google Shape;487;p42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orthogonally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alignment parallel to a line across the roof each acetabulum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the entire pelvis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88" name="Google Shape;488;p42" descr="C:\Users\sawatson\Desktop\Images\BONE1_1.MR.0002.0012.2016.06.08.11.06.58.47217.62121096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42" descr="C:\Users\sawatson\Desktop\Images\BONE2_1.MR.0003.0015.2016.06.08.11.07.10.782945.62121160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42" descr="C:\Users\sawatson\Desktop\Images\BONE3_1.MR.0004.0023.2016.06.08.11.07.23.490672.62121220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4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PELVIS</a:t>
            </a:r>
            <a:endParaRPr/>
          </a:p>
        </p:txBody>
      </p:sp>
      <p:sp>
        <p:nvSpPr>
          <p:cNvPr id="492" name="Google Shape;492;p42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Axial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7" name="Google Shape;497;p43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the pelvis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the vaginanal cavity to cover from asis to asis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orthogonally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98" name="Google Shape;498;p43" descr="C:\Users\sawatson\Desktop\Images\UTERUS1_1.MR.0003.0017.2016.06.08.10.46.06.733646.36955351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43" descr="C:\Users\sawatson\Desktop\Images\UTERUS3_1.MR.0004.0013.2016.06.08.10.46.52.750278.36957671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43" descr="C:\Users\sawatson\Desktop\Images\URETHRA1_1.MR.0005.0012.2016.06.08.10.36.42.645382.62066792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4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FEMALE PELVIS CENTER AT ASIS</a:t>
            </a:r>
            <a:endParaRPr/>
          </a:p>
        </p:txBody>
      </p:sp>
      <p:sp>
        <p:nvSpPr>
          <p:cNvPr id="502" name="Google Shape;502;p43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Sagittal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7" name="Google Shape;507;p44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stripe of the uterine cavity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uterus and ovaries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pubis symphisis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08" name="Google Shape;508;p44" descr="C:\Users\sawatson\Desktop\Images\UTERUS4_1.MR.0005.0012.2016.06.08.10.48.46.533786.62093158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32707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44" descr="C:\Users\sawatson\Desktop\Images\H_1.MR.0003.0017.2016.06.08.10.32.57.942529.36955351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3955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44" descr="C:\Users\sawatson\Desktop\Images\UTERUS9_1.MR.0004.0013.2016.06.08.10.50.57.496276.36957671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4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FEMALE PELVIS</a:t>
            </a:r>
            <a:endParaRPr/>
          </a:p>
        </p:txBody>
      </p:sp>
      <p:sp>
        <p:nvSpPr>
          <p:cNvPr id="512" name="Google Shape;512;p44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Coronal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7" name="Google Shape;517;p45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the stripe of the uterine cavity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vaginanal cavity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uterus and ovaries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18" name="Google Shape;518;p45" descr="C:\Users\sawatson\Desktop\Images\UTERUS7_1.MR.0005.0012.2016.06.08.10.50.26.749518.62093338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45" descr="C:\Users\sawatson\Desktop\Images\UTERUS8_1.MR.0003.0012.2016.06.08.10.50.41.951387.36955621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45" descr="C:\Users\sawatson\Desktop\Images\RECTUM10_1.MR.0004.0013.2016.06.08.11.15.04.4012.62150768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4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FEMALE PELVIS</a:t>
            </a:r>
            <a:endParaRPr/>
          </a:p>
        </p:txBody>
      </p:sp>
      <p:sp>
        <p:nvSpPr>
          <p:cNvPr id="522" name="Google Shape;522;p45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Axial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7" name="Google Shape;527;p46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from above the bladder to below the labia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vagina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orthogonally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28" name="Google Shape;528;p46" descr="C:\Users\sawatson\Desktop\Images\URETHRA1_1.MR.0005.0012.2016.06.08.10.36.42.645382.62066792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46" descr="C:\Users\sawatson\Desktop\Images\URETHRA2_1.MR.0003.0017.2016.06.08.10.37.11.974059.36955351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46" descr="C:\Users\sawatson\Desktop\Images\URETHRA3_1.MR.0004.0007.2016.06.08.10.37.26.643898.36957617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46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URETHRA CENTER AT GREATER TROCHANTER</a:t>
            </a:r>
            <a:endParaRPr/>
          </a:p>
        </p:txBody>
      </p:sp>
      <p:sp>
        <p:nvSpPr>
          <p:cNvPr id="532" name="Google Shape;532;p46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Sagittal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7" name="Google Shape;537;p47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 Narrow"/>
                        <a:buNone/>
                      </a:pPr>
                      <a:r>
                        <a:rPr lang="en-US" sz="1100" u="none" strike="noStrike" cap="none"/>
                        <a:t>align parallel to vagina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from above the bladder to below the labia 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orthogonally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38" name="Google Shape;538;p47" descr="C:\Users\sawatson\Desktop\Images\URETHRA4_1.MR.0005.0012.2016.06.08.10.38.09.99327.62066972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5793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47" descr="C:\Users\sawatson\Desktop\Images\URETHRA5_1.MR.0003.0017.2016.06.08.10.38.23.698162.36955351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5793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47" descr="C:\Users\sawatson\Desktop\Images\URETHRA6_1.MR.0004.0007.2016.06.08.10.39.07.61642.36957617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75793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4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URETHRA</a:t>
            </a:r>
            <a:endParaRPr/>
          </a:p>
        </p:txBody>
      </p:sp>
      <p:sp>
        <p:nvSpPr>
          <p:cNvPr id="542" name="Google Shape;542;p47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Coronal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7" name="Google Shape;547;p48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urethra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vagina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urethra and vagina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48" name="Google Shape;548;p48" descr="C:\Users\sawatson\Desktop\Images\URETHRA7_1.MR.0005.0012.2016.06.08.10.39.49.330059.62067152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48" descr="C:\Users\sawatson\Desktop\Images\URETHRA8_1.MR.0003.0017.2016.06.08.10.40.03.959896.36955351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48" descr="C:\Users\sawatson\Desktop\Images\URETHRA9_1.MR.0004.0007.2016.06.08.10.40.18.880750.36957617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48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URETHRA</a:t>
            </a:r>
            <a:endParaRPr/>
          </a:p>
        </p:txBody>
      </p:sp>
      <p:sp>
        <p:nvSpPr>
          <p:cNvPr id="552" name="Google Shape;552;p48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Axial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7" name="Google Shape;557;p49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the area of interest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orthogonally to cover the area of interest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orthogonally to cover the area of interest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58" name="Google Shape;558;p49" descr="A close up of a tattoo&#10;&#10;Description generated with high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65760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49" descr="A picture containing indoor&#10;&#10;Description generated with high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65760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49" descr="A picture containing indoor&#10;&#10;Description generated with very high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65760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49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PLACENTA CENTER AT ILIAC CREST</a:t>
            </a:r>
            <a:endParaRPr/>
          </a:p>
        </p:txBody>
      </p:sp>
      <p:sp>
        <p:nvSpPr>
          <p:cNvPr id="562" name="Google Shape;562;p49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Sagittal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7" name="Google Shape;567;p50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Angle with placenta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the area of interest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orthogonally to cover the area of interest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68" name="Google Shape;568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50" descr="A close up of a persons face&#10;&#10;Description generated with high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50" descr="F:\NON_DICOM_ANONYM_FILES\PLACENTA_1.MR.0105.0001.2017.08.04.08.21.16.742929.451384116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50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PLACENTA</a:t>
            </a:r>
            <a:endParaRPr/>
          </a:p>
        </p:txBody>
      </p:sp>
      <p:sp>
        <p:nvSpPr>
          <p:cNvPr id="572" name="Google Shape;572;p50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Coronal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7" name="Google Shape;577;p51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orthogonally to cover the area of interest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orthogonally to cover the area of interest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the area of interest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78" name="Google Shape;578;p51" descr="A picture containing photo&#10;&#10;Description generated with high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5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PLACENTA</a:t>
            </a:r>
            <a:endParaRPr/>
          </a:p>
        </p:txBody>
      </p:sp>
      <p:sp>
        <p:nvSpPr>
          <p:cNvPr id="582" name="Google Shape;582;p51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Axial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7" name="Google Shape;587;p52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orthogonally to cover the area of interest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the area of interest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orthogonally to cover the area of interest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88" name="Google Shape;588;p52" descr="A picture containing photo, indoor&#10;&#10;Description generated with high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52" descr="H:\BackUp5.13.16\Protocols\Images\4_1.MR.0103.0001.2017.05.11.09.41.20.388211.392185165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52" descr="H:\BackUp5.13.16\Protocols\Images\3_1.MR.0102.0001.2017.05.11.09.41.01.842150.392185127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5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APPENDIX CENTER AT ILIAC CREST</a:t>
            </a:r>
            <a:endParaRPr/>
          </a:p>
        </p:txBody>
      </p:sp>
      <p:sp>
        <p:nvSpPr>
          <p:cNvPr id="592" name="Google Shape;592;p52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Coronal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7" name="Google Shape;597;p53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orthogonally to cover the area of interest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orthogonally to cover the area of interest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the area of interest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98" name="Google Shape;598;p53" descr="H:\BackUp5.13.16\Protocols\Images\8_1.MR.0107.0001.2017.05.11.09.42.47.212177.392185313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53" descr="H:\BackUp5.13.16\Protocols\Images\6_1.MR.0105.0001.2017.05.11.09.42.07.984933.392185237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5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5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APPENDIX</a:t>
            </a:r>
            <a:endParaRPr/>
          </a:p>
        </p:txBody>
      </p:sp>
      <p:sp>
        <p:nvSpPr>
          <p:cNvPr id="602" name="Google Shape;602;p53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Axial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7" name="Google Shape;607;p54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9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from the sacrum to pubic symphysis and seminal vesicles through bulb of the corpus spongiosum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pubis symphisis and cover L to R to include the seminal vesicles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pubis symphisis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08" name="Google Shape;608;p54" descr="C:\Users\sawatson\Desktop\Images\PROSTATE_1.MR.0102.0001.2016.05.05.14.09.05.442351.27377043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6465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54" descr="C:\Users\sawatson\Desktop\Images\PROSTATE_1.MR.0103.0001.2016.05.05.14.09.05.442351.27377079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6465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54" descr="C:\Users\sawatson\Desktop\Images\PROSTATE_1.MR.0104.0001.2016.05.05.14.09.05.442351.27377115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76465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5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PROSTATE CENTER AT GREATER TROCHANTER</a:t>
            </a:r>
            <a:endParaRPr/>
          </a:p>
        </p:txBody>
      </p:sp>
      <p:sp>
        <p:nvSpPr>
          <p:cNvPr id="612" name="Google Shape;612;p54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Sagittal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7" name="Google Shape;617;p55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orthogonally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seminal vesicles through bulb of the corpus spongiosum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pubis symphisis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18" name="Google Shape;618;p55" descr="C:\Users\sawatson\Desktop\Images\PROSTATE_1.MR.0107.0001.2016.05.05.14.09.05.442351.27377263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55" descr="C:\Users\sawatson\Desktop\Images\PROSTATE_1.MR.0109.0001.2016.05.05.14.09.05.442351.27377335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55" descr="E:\protocolimages\Images\FISTULA6_1.MR.0004.0013.2016.06.08.10.56.35.628616.36957671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5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PROSTATE</a:t>
            </a:r>
            <a:endParaRPr/>
          </a:p>
        </p:txBody>
      </p:sp>
      <p:sp>
        <p:nvSpPr>
          <p:cNvPr id="622" name="Google Shape;622;p55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Coronal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7" name="Google Shape;627;p56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9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orthogonal slices to cover seminal vesicles through bulb of the corpus spongiosum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pubis symphisis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from the sacrum to pubic symphysis and seminal vesicles through bulb of the corpus spongiosum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28" name="Google Shape;628;p56" descr="C:\Users\sawatson\Desktop\Images\PROSTATE_1.MR.0105.0001.2016.05.05.14.09.05.442351.27377151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69543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56" descr="C:\Users\sawatson\Desktop\Images\PROSTATE_1.MR.0106.0001.2016.05.05.14.09.05.442351.27377189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74196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56" descr="C:\Users\sawatson\Desktop\Images\A_1.MR.0004.0013.2016.06.07.16.14.41.486927.35970261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76489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56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PROSTATE</a:t>
            </a:r>
            <a:endParaRPr/>
          </a:p>
        </p:txBody>
      </p:sp>
      <p:sp>
        <p:nvSpPr>
          <p:cNvPr id="632" name="Google Shape;632;p56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Axial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7" name="Google Shape;637;p57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rectum through area of interest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bowel wall to cover through affected area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orthogonally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38" name="Google Shape;638;p57" descr="C:\Users\sawatson\Desktop\Images\RECTUM1_1.MR.0002.0012.2016.06.08.11.11.24.588462.62121468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7203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57" descr="C:\Users\sawatson\Desktop\Images\RECTUM2_1.MR.0003.0009.2016.06.08.11.11.38.966284.36955423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0403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57" descr="C:\Users\sawatson\Desktop\Images\RECTUM3_1.MR.0004.0014.2016.06.08.11.11.54.244158.36957455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2004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5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RECTUM CENTER AT ASIS</a:t>
            </a:r>
            <a:endParaRPr/>
          </a:p>
        </p:txBody>
      </p:sp>
      <p:sp>
        <p:nvSpPr>
          <p:cNvPr id="642" name="Google Shape;642;p57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Sagittal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7" name="Google Shape;647;p58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bowel wall to cover through affected area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rectum through area of interest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pubis symphisis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48" name="Google Shape;648;p58" descr="C:\Users\sawatson\Desktop\Images\RECTUM5_1.MR.0003.0012.2016.06.08.11.13.09.940488.36955621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p58" descr="C:\Users\sawatson\Desktop\Images\RECTUM6_1.MR.0004.0013.2016.06.08.11.13.26.509435.62150512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58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RECTUM</a:t>
            </a:r>
            <a:endParaRPr/>
          </a:p>
        </p:txBody>
      </p:sp>
      <p:sp>
        <p:nvSpPr>
          <p:cNvPr id="651" name="Google Shape;651;p58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Coronal</a:t>
            </a:r>
            <a:endParaRPr/>
          </a:p>
        </p:txBody>
      </p:sp>
      <p:pic>
        <p:nvPicPr>
          <p:cNvPr id="652" name="Google Shape;652;p58" descr="A close up of a logo&#10;&#10;Description generated with high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7" name="Google Shape;657;p59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bowel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bowel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area of interest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58" name="Google Shape;658;p59" descr="C:\Users\sawatson\Desktop\Images\RECTUM9_1.MR.0003.0012.2016.06.08.11.14.47.34041.36955621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59" descr="C:\Users\sawatson\Desktop\Images\RECTUM10_1.MR.0004.0013.2016.06.08.11.15.04.4012.62150768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59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RECTUM</a:t>
            </a:r>
            <a:endParaRPr/>
          </a:p>
        </p:txBody>
      </p:sp>
      <p:sp>
        <p:nvSpPr>
          <p:cNvPr id="661" name="Google Shape;661;p59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Axial</a:t>
            </a:r>
            <a:endParaRPr/>
          </a:p>
        </p:txBody>
      </p:sp>
      <p:pic>
        <p:nvPicPr>
          <p:cNvPr id="662" name="Google Shape;662;p59" descr="A screenshot of a cell phone&#10;&#10;Description generated with high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7" name="Google Shape;667;p60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the anterior abdominal wall through the body posteriorly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orthogonally centered to the pelvis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orthogonally centered to the pelvis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68" name="Google Shape;668;p60" descr="C:\Users\sawatson\Desktop\Images\FISTULA2_1.MR.0003.0012.2016.06.08.10.53.55.530459.36955621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p60" descr="C:\Users\sawatson\Desktop\Images\FISTULA3_1.MR.0004.0013.2016.06.08.10.55.03.660356.36957671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p60" descr="C:\Users\sawatson\Desktop\Images\FISTULA1_1.MR.0002.0012.2016.06.08.10.53.22.207553.36952545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60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FISTULA CENTER TO ASIS</a:t>
            </a:r>
            <a:endParaRPr/>
          </a:p>
        </p:txBody>
      </p:sp>
      <p:sp>
        <p:nvSpPr>
          <p:cNvPr id="672" name="Google Shape;672;p60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Sagittal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7" name="Google Shape;677;p61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orthogonally centered to the area of interest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posterior to anterior through the area of interest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orthogonally centered to the area of interest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78" name="Google Shape;678;p61" descr="C:\Users\sawatson\Desktop\Images\FIST_1.MR.0005.0012.2016.06.09.13.38.17.73580.63539068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56504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p61" descr="C:\Users\sawatson\Desktop\Images\FISTULA5_1.MR.0003.0012.2016.06.08.10.56.09.965149.36955621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0" name="Google Shape;680;p61" descr="A picture containing indoor, cat&#10;&#10;Description generated with high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756504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6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FISTULA</a:t>
            </a:r>
            <a:endParaRPr/>
          </a:p>
        </p:txBody>
      </p:sp>
      <p:sp>
        <p:nvSpPr>
          <p:cNvPr id="682" name="Google Shape;682;p61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Coronal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7" name="Google Shape;687;p62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orthogonally centered to the area of interest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orthogonally centered to the area of interest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posterior to anterior through the area of interest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88" name="Google Shape;688;p62" descr="C:\Users\sawatson\Desktop\Images\FISTULA7_1.MR.0002.0012.2016.06.08.10.58.23.148766.36952545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p62" descr="C:\Users\sawatson\Desktop\Images\FISTULA8_1.MR.0003.0012.2016.06.08.10.58.37.586592.36955621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0" name="Google Shape;690;p62" descr="C:\Users\sawatson\Desktop\Images\FISTULA9_1.MR.0004.0013.2016.06.08.10.58.49.46247.36957671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6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FISTULA</a:t>
            </a:r>
            <a:endParaRPr/>
          </a:p>
        </p:txBody>
      </p:sp>
      <p:sp>
        <p:nvSpPr>
          <p:cNvPr id="692" name="Google Shape;692;p62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Axial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7" name="Google Shape;697;p63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CBD 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from diaphragm through duodenum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orthogonally and cover biliary tree and pancreas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98" name="Google Shape;698;p63" descr="C:\Users\sawatson\Desktop\Images\MRCP_1.MR.0109.0001.2016.05.05.14.10.22.736772.26385071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63" descr="C:\Users\sawatson\Desktop\Images\MRCP_1.MR.0108.0001.2016.05.05.14.10.22.736772.26385039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3771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p63" descr="C:\Users\sawatson\Desktop\Images\MRCP_1.MR.0107.0001.2016.05.05.14.10.22.736772.26385003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26971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6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MRCP CENTER AT DIAPHRAGM</a:t>
            </a:r>
            <a:endParaRPr/>
          </a:p>
        </p:txBody>
      </p:sp>
      <p:sp>
        <p:nvSpPr>
          <p:cNvPr id="702" name="Google Shape;702;p63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Coronal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7" name="Google Shape;707;p64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body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body cover from diaphragm through liver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entire abdomen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08" name="Google Shape;708;p64" descr="C:\Users\sawatson\Desktop\Images\MRCP_1.MR.0102.0001.2016.05.05.14.10.22.736772.26384971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9" name="Google Shape;709;p64" descr="C:\Users\sawatson\Desktop\Images\MRCP_1.MR.0100.0001.2016.05.05.14.10.22.736772.26384907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64" descr="C:\Users\sawatson\Desktop\Images\MRCP_1.MR.0101.0001.2016.05.05.14.10.22.736772.26384939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6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MRCP</a:t>
            </a:r>
            <a:endParaRPr/>
          </a:p>
        </p:txBody>
      </p:sp>
      <p:sp>
        <p:nvSpPr>
          <p:cNvPr id="712" name="Google Shape;712;p64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Axial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" name="Google Shape;717;p65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body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from diaphragm through through tail of liver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body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18" name="Google Shape;718;p65" descr="C:\Users\sawatson\Desktop\Images\LIVER2_1.MR.0005.0011.2016.06.08.13.07.55.779335.37128647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65" descr="C:\Users\sawatson\Desktop\Images\LIVER1_1.MR.0002.0019.2016.06.08.13.07.40.360453.62309268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Google Shape;720;p65" descr="C:\Users\sawatson\Desktop\Images\LIVER3_1.MR.0004.0005.2016.06.08.13.08.09.112098.37126543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6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LIVER CENTER AT DIAPHRAGM</a:t>
            </a:r>
            <a:endParaRPr/>
          </a:p>
        </p:txBody>
      </p:sp>
      <p:sp>
        <p:nvSpPr>
          <p:cNvPr id="722" name="Google Shape;722;p65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Coronal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7" name="Google Shape;727;p66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body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body cover from diaphragm through tail of liver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entire abdomen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28" name="Google Shape;728;p66" descr="C:\Users\sawatson\Desktop\Images\LIVER7_1.MR.0005.0011.2016.06.08.13.10.30.907208.37128647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34003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9" name="Google Shape;729;p66" descr="C:\Users\sawatson\Desktop\Images\LIVER8_1.MR.0002.0021.2016.06.08.13.10.44.73961.62309696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0" name="Google Shape;730;p66" descr="C:\Users\sawatson\Desktop\Images\LIVER9_1.MR.0004.0005.2016.06.08.13.11.00.833920.37126543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20403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66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LIVER</a:t>
            </a:r>
            <a:endParaRPr/>
          </a:p>
        </p:txBody>
      </p:sp>
      <p:sp>
        <p:nvSpPr>
          <p:cNvPr id="732" name="Google Shape;732;p66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Axial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7" name="Google Shape;737;p67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body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from diaphragm through through duodenum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body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38" name="Google Shape;738;p67" descr="C:\Users\sawatson\Desktop\Images\MRCP_1.MR.0109.0001.2016.05.05.14.10.22.736772.26385071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9" name="Google Shape;739;p67" descr="C:\Users\sawatson\Desktop\Images\MRCP_1.MR.0108.0001.2016.05.05.14.10.22.736772.26385039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92515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0" name="Google Shape;740;p67" descr="C:\Users\sawatson\Desktop\Images\MRCP_1.MR.0107.0001.2016.05.05.14.10.22.736772.26385003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56231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6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PANCREAS CENTER AT DIAPHRAGM</a:t>
            </a:r>
            <a:endParaRPr/>
          </a:p>
        </p:txBody>
      </p:sp>
      <p:sp>
        <p:nvSpPr>
          <p:cNvPr id="742" name="Google Shape;742;p67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Coronal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7" name="Google Shape;747;p68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body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body cover from diaphragm through duodenum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entire abdomen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48" name="Google Shape;748;p68" descr="C:\Users\sawatson\Desktop\Images\MRCP_1.MR.0112.0001.2016.05.05.14.10.22.736772.26385177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" name="Google Shape;749;p68" descr="C:\Users\sawatson\Desktop\Images\MRCP_1.MR.0113.0001.2016.05.05.14.10.22.736772.26385209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0" name="Google Shape;750;p68" descr="C:\Users\sawatson\Desktop\Images\MRCP_1.MR.0101.0001.2016.05.05.14.10.22.736772.26384939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68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PANCREAS</a:t>
            </a:r>
            <a:endParaRPr/>
          </a:p>
        </p:txBody>
      </p:sp>
      <p:sp>
        <p:nvSpPr>
          <p:cNvPr id="752" name="Google Shape;752;p68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Axial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7" name="Google Shape;757;p69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body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from adrenals through bilateral kidneys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body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58" name="Google Shape;758;p69" descr="C:\Users\sawatson\Desktop\Images\KIDNEYS_1.MR.0005.0003.2016.06.08.13.18.57.235168.37128575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9" name="Google Shape;759;p69" descr="C:\Users\sawatson\Desktop\Images\KIDNEYS2_1.MR.0002.0016.2016.06.08.13.19.12.853062.62332998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0" name="Google Shape;760;p69" descr="C:\Users\sawatson\Desktop\Images\KIDNEYS3_1.MR.0004.0010.2016.06.08.13.19.27.8871.37126453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69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KIDNEYS CENTER AT ILIAC CREST</a:t>
            </a:r>
            <a:endParaRPr/>
          </a:p>
        </p:txBody>
      </p:sp>
      <p:sp>
        <p:nvSpPr>
          <p:cNvPr id="762" name="Google Shape;762;p69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Coronal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7" name="Google Shape;767;p70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body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body cover from adrenals through bilateral kidneys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entire abdomen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68" name="Google Shape;768;p70" descr="C:\Users\sawatson\Desktop\Images\KIDNEYS_AX_FB1_1.MR.0005.0003.2016.06.08.13.20.23.606108.37128575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9" name="Google Shape;769;p70" descr="C:\Users\sawatson\Desktop\Images\KIDNEYS_AX_FB2_1.MR.0002.0015.2016.06.08.13.20.36.851866.37122415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0" name="Google Shape;770;p70" descr="C:\Users\sawatson\Desktop\Images\KIDNEYS_AX_FB3_1.MR.0004.0010.2016.06.08.13.20.54.483875.37126453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70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KIDNEYS</a:t>
            </a:r>
            <a:endParaRPr/>
          </a:p>
        </p:txBody>
      </p:sp>
      <p:sp>
        <p:nvSpPr>
          <p:cNvPr id="772" name="Google Shape;772;p70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Axial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7" name="Google Shape;777;p71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body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from adrenals through bilateral kidneys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body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78" name="Google Shape;778;p71" descr="C:\Users\sawatson\Desktop\Images\ADRENALS_COR1_1.MR.0005.0003.2016.06.08.13.17.21.332683.37128575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9" name="Google Shape;779;p71" descr="C:\Users\sawatson\Desktop\Images\ADRENALS_COR2_1.MR.0002.0016.2016.06.08.13.17.36.863571.37122568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0" name="Google Shape;780;p71" descr="C:\Users\sawatson\Desktop\Images\ADRENALS_COR3_1.MR.0004.0008.2016.06.08.13.17.49.619301.37126435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7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ADRENALS CENTER AT ILIAC CREST</a:t>
            </a:r>
            <a:endParaRPr/>
          </a:p>
        </p:txBody>
      </p:sp>
      <p:sp>
        <p:nvSpPr>
          <p:cNvPr id="782" name="Google Shape;782;p71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Coronal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7" name="Google Shape;787;p72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body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body cover from adrenals through bilateral kidneys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entire abdomen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88" name="Google Shape;788;p72" descr="C:\Users\sawatson\Desktop\Images\ADRENALS_AX_FB1_1.MR.0005.0003.2016.06.08.13.14.57.132435.37128575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9" name="Google Shape;789;p72" descr="C:\Users\sawatson\Desktop\Images\ADRENALS_AX_FB2_1.MR.0002.0016.2016.06.08.13.15.12.101291.37122568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0" name="Google Shape;790;p72" descr="C:\Users\sawatson\Desktop\Images\ADRENALS_AX_BH3_1.MR.0004.0008.2016.06.08.13.16.42.843482.37126435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7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ADRENALS</a:t>
            </a:r>
            <a:endParaRPr/>
          </a:p>
        </p:txBody>
      </p:sp>
      <p:sp>
        <p:nvSpPr>
          <p:cNvPr id="792" name="Google Shape;792;p72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Axial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7" name="Google Shape;797;p73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orthogonally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glenohumeral joint to cover AC joint through glenohumeral joint 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deltoid to medial border of scapula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98" name="Google Shape;798;p7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SHOULDER CENTER AT GLENOHUMERAL JOINT</a:t>
            </a:r>
            <a:endParaRPr/>
          </a:p>
        </p:txBody>
      </p:sp>
      <p:sp>
        <p:nvSpPr>
          <p:cNvPr id="799" name="Google Shape;799;p73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Axial</a:t>
            </a:r>
            <a:endParaRPr/>
          </a:p>
        </p:txBody>
      </p:sp>
      <p:pic>
        <p:nvPicPr>
          <p:cNvPr id="800" name="Google Shape;800;p73" descr="A picture containing indoor&#10;&#10;Description generated with high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53329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1" name="Google Shape;801;p73" descr="A picture containing photo&#10;&#10;Description generated with high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5200" y="3524453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p73" descr="A picture containing indoor&#10;&#10;Description generated with very high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0" y="3524453"/>
            <a:ext cx="27432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7" name="Google Shape;807;p74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orthogonally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from AC joint through glenohumeral joint 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supraspinatous muscle or perpendicular to glenohumeral joint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808" name="Google Shape;808;p74" descr="C:\Users\sawatson\Desktop\Images\SHLDR_1.MR.0103.0001.2016.06.24.09.44.10.423065.79643906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7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SHOULDER</a:t>
            </a:r>
            <a:endParaRPr/>
          </a:p>
        </p:txBody>
      </p:sp>
      <p:sp>
        <p:nvSpPr>
          <p:cNvPr id="810" name="Google Shape;810;p74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Coronal</a:t>
            </a:r>
            <a:endParaRPr/>
          </a:p>
        </p:txBody>
      </p:sp>
      <p:pic>
        <p:nvPicPr>
          <p:cNvPr id="811" name="Google Shape;811;p74" descr="A close up of a person&#10;&#10;Description generated with high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74" descr="A picture containing indoor&#10;&#10;Description generated with high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7" name="Google Shape;817;p75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from AC joint through glenohumeral joint 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glenohumeral joint from scapular notch through head of humerus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perpendicuar to supraspinatous muscle or parallel to glenohumeral joint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818" name="Google Shape;818;p75" descr="C:\Users\sawatson\Desktop\Images\SHLDR_1.MR.0106.0001.2016.06.24.09.44.10.423065.79644014.JPEG"/>
          <p:cNvPicPr preferRelativeResize="0"/>
          <p:nvPr/>
        </p:nvPicPr>
        <p:blipFill rotWithShape="1">
          <a:blip r:embed="rId3">
            <a:alphaModFix/>
          </a:blip>
          <a:srcRect l="4762" t="3931" r="6803" b="6462"/>
          <a:stretch/>
        </p:blipFill>
        <p:spPr>
          <a:xfrm>
            <a:off x="7278079" y="3756052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7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SHOULDER</a:t>
            </a:r>
            <a:endParaRPr/>
          </a:p>
        </p:txBody>
      </p:sp>
      <p:sp>
        <p:nvSpPr>
          <p:cNvPr id="820" name="Google Shape;820;p75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Sagittal</a:t>
            </a:r>
            <a:endParaRPr/>
          </a:p>
        </p:txBody>
      </p:sp>
      <p:pic>
        <p:nvPicPr>
          <p:cNvPr id="821" name="Google Shape;821;p75" descr="A picture containing indoor, person&#10;&#10;Description generated with high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34879" y="3763064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7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91679" y="3763844"/>
            <a:ext cx="27432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7" name="Google Shape;827;p76"/>
          <p:cNvGraphicFramePr/>
          <p:nvPr/>
        </p:nvGraphicFramePr>
        <p:xfrm>
          <a:off x="1828800" y="22860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6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ulna and radius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ulna and radius to cover from radioulnar joint through base of metacarpals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entire wrist joint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828" name="Google Shape;828;p76" descr="A picture containing photo, animal&#10;&#10;Description generated with high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5200" y="3759838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76" descr="A picture containing indoor&#10;&#10;Description generated with high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59838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76" descr="A picture containing indoor&#10;&#10;Description generated with high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28800" y="3759838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76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ELBOW CENTER AT EPICONDYLES</a:t>
            </a:r>
            <a:endParaRPr/>
          </a:p>
        </p:txBody>
      </p:sp>
      <p:sp>
        <p:nvSpPr>
          <p:cNvPr id="832" name="Google Shape;832;p76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Axial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7" name="Google Shape;837;p77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the shaft of the humerus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superior to the epicondyles through the radial tuberosity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the epicondyles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838" name="Google Shape;838;p77" descr="A picture containing indoor, table, black&#10;&#10;Description generated with high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77" descr="A picture containing man, indoor, person, black&#10;&#10;Description generated with high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77" descr="A person wearing a suit and tie&#10;&#10;Description generated with very high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7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ELBOW</a:t>
            </a:r>
            <a:endParaRPr/>
          </a:p>
        </p:txBody>
      </p:sp>
      <p:sp>
        <p:nvSpPr>
          <p:cNvPr id="842" name="Google Shape;842;p77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Coronal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7" name="Google Shape;847;p78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superior to the epicondyles through the radial tuberosity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the shaft of the humerus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epicondyles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848" name="Google Shape;848;p78" descr="A picture containing chain, swing, table, metalware&#10;&#10;Description generated with very high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7396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9" name="Google Shape;849;p78" descr="A picture containing necktie, indoor, sitting&#10;&#10;Description generated with high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0" name="Google Shape;850;p78" descr="A picture containing indoor, sitting&#10;&#10;Description generated with high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26604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78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ELBOW</a:t>
            </a:r>
            <a:endParaRPr/>
          </a:p>
        </p:txBody>
      </p:sp>
      <p:sp>
        <p:nvSpPr>
          <p:cNvPr id="852" name="Google Shape;852;p78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Sagittal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57" name="Google Shape;857;p79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ulna and radius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ulna and radius to cover from radioulnar joint through base of metacarpals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entire wrist joint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858" name="Google Shape;858;p79" descr="C:\Users\sawatson\Desktop\Images\WRIST_1.MR.0101.0001.2016.05.19.14.17.16.718007.41658126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565144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79" descr="C:\Users\sawatson\Desktop\Images\WRIST_1.MR.0100.0001.2016.05.19.14.17.16.718007.41658059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565144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0" name="Google Shape;860;p79" descr="C:\Users\sawatson\Desktop\Images\WRIST_1.MR.0107.0001.2016.05.19.14.17.16.718007.41658474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565144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79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WRIST CENTER AT CARPALS</a:t>
            </a:r>
            <a:endParaRPr/>
          </a:p>
        </p:txBody>
      </p:sp>
      <p:sp>
        <p:nvSpPr>
          <p:cNvPr id="862" name="Google Shape;862;p79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Axial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7" name="Google Shape;867;p80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ulna and radius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from radioulnar joint through base of metacarpals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orthogonally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868" name="Google Shape;868;p80" descr="C:\Users\sawatson\Desktop\Images\WRIST_1.MR.0103.0001.2016.05.19.14.17.16.718007.41658229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80" descr="C:\Users\sawatson\Desktop\Images\WRIST_1.MR.0102.0001.2016.05.19.14.17.16.718007.41658162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p80" descr="C:\Users\sawatson\Desktop\Images\WRIST_1.MR.0108.0001.2016.05.19.14.17.16.718007.41658510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80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WRIST</a:t>
            </a:r>
            <a:endParaRPr/>
          </a:p>
        </p:txBody>
      </p:sp>
      <p:sp>
        <p:nvSpPr>
          <p:cNvPr id="872" name="Google Shape;872;p80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Coronal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7" name="Google Shape;877;p81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from radioulnar joint through base of metacarpals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ulna and radius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ulna and radius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878" name="Google Shape;878;p81" descr="C:\Users\sawatson\Desktop\Images\WRIST_1.MR.0105.0001.2016.05.19.14.17.16.718007.41658332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9" name="Google Shape;879;p81" descr="C:\Users\sawatson\Desktop\Images\WRIST_1.MR.0104.0001.2016.05.19.14.17.16.718007.41658265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57415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0" name="Google Shape;880;p81" descr="C:\Users\sawatson\Desktop\Images\WRIST_1.MR.0106.0001.2016.05.19.14.17.16.718007.41658368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757415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8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WRIST</a:t>
            </a:r>
            <a:endParaRPr/>
          </a:p>
        </p:txBody>
      </p:sp>
      <p:sp>
        <p:nvSpPr>
          <p:cNvPr id="882" name="Google Shape;882;p81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Sagittal</a:t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7" name="Google Shape;887;p82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metacarpals and phalanges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from radioulnar joint to finger tips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orthogonally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888" name="Google Shape;888;p82" descr="A close up of a glass&#10;&#10;Description generated with high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53683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p82" descr="A close up of an animal&#10;&#10;Description generated with high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40083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0" name="Google Shape;890;p82" descr="A picture containing animal, invertebrate, arthropod&#10;&#10;Description generated with very high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96883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p8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HAND CENTER TO PIP OF THIRD DIGIT</a:t>
            </a:r>
            <a:endParaRPr/>
          </a:p>
        </p:txBody>
      </p:sp>
      <p:sp>
        <p:nvSpPr>
          <p:cNvPr id="892" name="Google Shape;892;p82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Coronal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7" name="Google Shape;897;p83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from radioulnar joint to finger tips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metacarpals and phalanges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orthogonally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898" name="Google Shape;898;p83" descr="A picture containing indoor&#10;&#10;Description generated with high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5203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83" descr="A picture containing animal, invertebrate, arthropod&#10;&#10;Description generated with high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8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28799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8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HAND</a:t>
            </a:r>
            <a:endParaRPr/>
          </a:p>
        </p:txBody>
      </p:sp>
      <p:sp>
        <p:nvSpPr>
          <p:cNvPr id="902" name="Google Shape;902;p83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Sagittal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7" name="Google Shape;907;p84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metacarpals and phalanges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metacarpals and phalanges to cover from radioulnar joint to finger tips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entire hand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08" name="Google Shape;908;p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84" descr="A close up of an animal&#10;&#10;Description generated with high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84" descr="A close up of a mans face&#10;&#10;Description generated with high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p8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HAND</a:t>
            </a:r>
            <a:endParaRPr/>
          </a:p>
        </p:txBody>
      </p:sp>
      <p:sp>
        <p:nvSpPr>
          <p:cNvPr id="912" name="Google Shape;912;p84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Axial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7" name="Google Shape;917;p85"/>
          <p:cNvGraphicFramePr/>
          <p:nvPr/>
        </p:nvGraphicFramePr>
        <p:xfrm>
          <a:off x="1828800" y="2286000"/>
          <a:ext cx="8229600" cy="1463025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5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femoral shaft or orthoganal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from superior to the acetabulum through the lesser trochanter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the neck of the femur and cover through the acetabulum or align parallel to the heads of both femurs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18" name="Google Shape;918;p85" descr="C:\Users\sawatson\Desktop\Images\HIP_1.MR.0100.0001.2016.06.07.08.29.21.378437.60198127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5200" y="3766528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85" descr="C:\Users\sawatson\Desktop\Images\HIP_1.MR.0101.0001.2016.06.07.08.29.21.378437.60198163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8800" y="3766528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0" name="Google Shape;920;p85" descr="C:\Users\sawatson\Desktop\Images\HIP_1.MR.0107.0001.2016.06.07.08.29.21.378437.60198379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0" y="3766528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921" name="Google Shape;921;p8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HIPS CENTER AT GREATER TROCHANTER</a:t>
            </a:r>
            <a:endParaRPr/>
          </a:p>
        </p:txBody>
      </p:sp>
      <p:sp>
        <p:nvSpPr>
          <p:cNvPr id="922" name="Google Shape;922;p85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Coronal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7" name="Google Shape;927;p86"/>
          <p:cNvGraphicFramePr/>
          <p:nvPr>
            <p:extLst>
              <p:ext uri="{D42A27DB-BD31-4B8C-83A1-F6EECF244321}">
                <p14:modId xmlns:p14="http://schemas.microsoft.com/office/powerpoint/2010/main" val="1462185354"/>
              </p:ext>
            </p:extLst>
          </p:nvPr>
        </p:nvGraphicFramePr>
        <p:xfrm>
          <a:off x="1828800" y="2286000"/>
          <a:ext cx="8229600" cy="1213104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femoral shaft or orthoganal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the neck of the femur and cover through the acetabulum or orthoganal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/>
                        <a:t>The FOV will cover entire will cover entire pelvis for bilateral exam and/or region of interest </a:t>
                      </a:r>
                      <a:r>
                        <a:rPr lang="en-US" sz="1100" u="none" strike="noStrike" cap="none"/>
                        <a:t>for unilateral exam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28" name="Google Shape;928;p86" descr="C:\Users\sawatson\Desktop\Images\HIP_1.MR.0102.0001.2016.06.07.08.29.21.378437.60198199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565144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86" descr="C:\Users\sawatson\Desktop\Images\HIP_1.MR.0103.0001.2016.06.07.08.29.21.378437.60198235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5200" y="3565144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86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HIPS</a:t>
            </a:r>
            <a:endParaRPr/>
          </a:p>
        </p:txBody>
      </p:sp>
      <p:sp>
        <p:nvSpPr>
          <p:cNvPr id="931" name="Google Shape;931;p86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Axial</a:t>
            </a:r>
            <a:endParaRPr/>
          </a:p>
        </p:txBody>
      </p:sp>
      <p:pic>
        <p:nvPicPr>
          <p:cNvPr id="932" name="Google Shape;932;p86" descr="A picture containing indoor, black, white&#10;&#10;Description generated with high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0" y="3565144"/>
            <a:ext cx="2743200" cy="2772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7" name="Google Shape;937;p87"/>
          <p:cNvGraphicFramePr/>
          <p:nvPr/>
        </p:nvGraphicFramePr>
        <p:xfrm>
          <a:off x="1828800" y="2286000"/>
          <a:ext cx="8229600" cy="1213104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from superior to the acetabulum through the lesser trochanter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femoral neck covering from the greater trochanter through the acetabulum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femoral neck, parallel to acetabulum, or orthoganal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38" name="Google Shape;938;p87" descr="C:\Users\sawatson\Desktop\Images\HIP_1.MR.0104.0001.2016.06.07.08.29.21.378437.60198271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565144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87" descr="C:\Users\sawatson\Desktop\Images\HIP_1.MR.0105.0001.2016.06.07.08.29.21.378437.60198307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5200" y="3565144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8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HIPS</a:t>
            </a:r>
            <a:endParaRPr/>
          </a:p>
        </p:txBody>
      </p:sp>
      <p:sp>
        <p:nvSpPr>
          <p:cNvPr id="941" name="Google Shape;941;p87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Sagittal</a:t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6" name="Google Shape;946;p88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femur and tibia and cover above patella through tibial tuberosity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the femoral condyles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the entire knee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47" name="Google Shape;947;p88" descr="C:\Users\sawatson\Desktop\Images\KNEE_1.MR.0100.0001.2016.05.09.06.32.12.292925.28434709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565144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8" name="Google Shape;948;p88" descr="C:\Users\sawatson\Desktop\Images\KNEE2_1.MR.0102.0001.2016.05.19.14.16.49.777466.41608905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82109" y="3565144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9" name="Google Shape;949;p88" descr="C:\Users\sawatson\Desktop\Images\KNEE_1.MR.0101.0001.2016.05.09.06.32.12.292925.28434776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20255" y="3565144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Google Shape;950;p88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KNEE CENTER AT APEX</a:t>
            </a:r>
            <a:endParaRPr/>
          </a:p>
        </p:txBody>
      </p:sp>
      <p:sp>
        <p:nvSpPr>
          <p:cNvPr id="951" name="Google Shape;951;p88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Axial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6" name="Google Shape;956;p89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the femur and tibia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superior to patella through tibial tuberosity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the medial aspect of the femoral condyle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57" name="Google Shape;957;p89" descr="C:\Users\sawatson\Desktop\Images\KNEE_1.MR.0102.0001.2016.05.09.06.32.12.292925.28434812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8" name="Google Shape;958;p89" descr="C:\Users\sawatson\Desktop\Images\C_1.MR.0004.0012.2016.06.07.12.12.29.620643.29318873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9" name="Google Shape;959;p89" descr="C:\Users\sawatson\Desktop\Images\KNEE_1.MR.0103.0001.2016.05.09.06.32.12.292925.28434879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960" name="Google Shape;960;p89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KNEE</a:t>
            </a:r>
            <a:endParaRPr/>
          </a:p>
        </p:txBody>
      </p:sp>
      <p:sp>
        <p:nvSpPr>
          <p:cNvPr id="961" name="Google Shape;961;p89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Coronal</a:t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6" name="Google Shape;966;p90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superior to patella through tibial tuberosity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the femoral condyles and cover through entire knee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femoral condyles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67" name="Google Shape;967;p90" descr="C:\Users\sawatson\Desktop\Images\KNEE_1.MR.0104.0001.2016.05.09.06.32.12.292925.28434915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8" name="Google Shape;968;p90" descr="C:\Users\sawatson\Desktop\Images\KNEE2_1.MR.0101.0001.2016.05.19.14.16.49.777466.41608869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9" name="Google Shape;969;p90" descr="C:\Users\sawatson\Desktop\Images\KNEE_1.MR.0105.0001.2016.05.09.06.32.12.292925.28434982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970" name="Google Shape;970;p90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KNEE</a:t>
            </a:r>
            <a:endParaRPr/>
          </a:p>
        </p:txBody>
      </p:sp>
      <p:sp>
        <p:nvSpPr>
          <p:cNvPr id="971" name="Google Shape;971;p90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Sagittal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76" name="Google Shape;976;p91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tibia/fibula sagittally and cover talofibular joint through the calcaneus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tibia/fibula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all the tarsals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77" name="Google Shape;977;p91" descr="C:\Users\sawatson\Desktop\Images\FOOT_1.MR.0132.0001.2016.05.26.07.42.11.703125.448947000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8" name="Google Shape;978;p91" descr="C:\Users\sawatson\Desktop\Images\FOOT_1.MR.0134.0001.2016.05.26.07.42.11.703125.448947094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66259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9" name="Google Shape;979;p91" descr="C:\Users\sawatson\Desktop\Images\FOOT_1.MR.0133.0001.2016.05.26.07.42.11.703125.448947043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2329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9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ANKLE CENTER AT MORTISE JOINT</a:t>
            </a:r>
            <a:endParaRPr/>
          </a:p>
        </p:txBody>
      </p:sp>
      <p:sp>
        <p:nvSpPr>
          <p:cNvPr id="981" name="Google Shape;981;p91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Axial</a:t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6" name="Google Shape;986;p92"/>
          <p:cNvGraphicFramePr/>
          <p:nvPr/>
        </p:nvGraphicFramePr>
        <p:xfrm>
          <a:off x="1828800" y="2286000"/>
          <a:ext cx="8229600" cy="1463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the tibia to cover from achilles to base of metatarsals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superior to cover talofibular joint through the calcaneus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talus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87" name="Google Shape;987;p92" descr="C:\Users\sawatson\Desktop\Images\FOOT_1.MR.0103.0001.2016.05.26.07.42.11.703125.448928201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4501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8" name="Google Shape;988;p92" descr="C:\Users\sawatson\Desktop\Images\FOOT_1.MR.0106.0001.2016.05.26.07.42.11.703125.448928338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69851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9" name="Google Shape;989;p92" descr="C:\Users\sawatson\Desktop\Images\FOOT_1.MR.0104.0001.2016.05.26.07.42.11.703125.448928244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9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ANKLE</a:t>
            </a:r>
            <a:endParaRPr/>
          </a:p>
        </p:txBody>
      </p:sp>
      <p:sp>
        <p:nvSpPr>
          <p:cNvPr id="991" name="Google Shape;991;p92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Coronal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6" name="Google Shape;996;p93"/>
          <p:cNvGraphicFramePr/>
          <p:nvPr>
            <p:extLst>
              <p:ext uri="{D42A27DB-BD31-4B8C-83A1-F6EECF244321}">
                <p14:modId xmlns:p14="http://schemas.microsoft.com/office/powerpoint/2010/main" val="4284200823"/>
              </p:ext>
            </p:extLst>
          </p:nvPr>
        </p:nvGraphicFramePr>
        <p:xfrm>
          <a:off x="1828800" y="2286000"/>
          <a:ext cx="8229600" cy="1463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superior to cover talofibular joint through the calcaneus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/>
                        <a:t>align perpendicular </a:t>
                      </a:r>
                      <a:r>
                        <a:rPr lang="en-US" sz="1100" u="none" strike="noStrike" cap="none"/>
                        <a:t>to tibiotalar </a:t>
                      </a:r>
                      <a:r>
                        <a:rPr lang="en-US" sz="1100" u="none" strike="noStrike" cap="none" dirty="0"/>
                        <a:t>joint</a:t>
                      </a:r>
                      <a:endParaRPr sz="110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/>
                        <a:t>align parallel to the talus</a:t>
                      </a:r>
                      <a:endParaRPr sz="110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97" name="Google Shape;997;p93" descr="C:\Users\sawatson\Desktop\Images\FOOT_1.MR.0107.0001.2016.05.26.07.42.11.703125.448928389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32121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8" name="Google Shape;998;p93" descr="C:\Users\sawatson\Desktop\Images\FOOT_1.MR.0110.0001.2016.05.26.07.42.11.703125.448928534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5321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9" name="Google Shape;999;p93" descr="C:\Users\sawatson\Desktop\Images\FOOT_1.MR.0109.0001.2016.05.26.07.42.11.703125.448928487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6861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p9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ANKLE</a:t>
            </a:r>
            <a:endParaRPr/>
          </a:p>
        </p:txBody>
      </p:sp>
      <p:sp>
        <p:nvSpPr>
          <p:cNvPr id="1001" name="Google Shape;1001;p93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Sagittal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6" name="Google Shape;1006;p94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metatarsals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distal tarsals through phalanges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the talus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07" name="Google Shape;1007;p94" descr="C:\Users\sawatson\Desktop\Images\FOOT_1.MR.0120.0001.2016.05.26.07.42.11.703125.448946436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8" name="Google Shape;1008;p94" descr="C:\Users\sawatson\Desktop\Images\FOOT_1.MR.0122.0001.2016.05.26.07.42.11.703125.448946526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9" name="Google Shape;1009;p94" descr="C:\Users\sawatson\Desktop\Images\FOOT_1.MR.0121.0001.2016.05.26.07.42.11.703125.448946479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0" name="Google Shape;1010;p9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FOOT CENTER MIDFOOT</a:t>
            </a:r>
            <a:endParaRPr/>
          </a:p>
        </p:txBody>
      </p:sp>
      <p:sp>
        <p:nvSpPr>
          <p:cNvPr id="1011" name="Google Shape;1011;p94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Coronal or Short axis</a:t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6" name="Google Shape;1016;p95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metatarsals covering entire foot left to right or orthoganal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metatarsals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distal tarsals through phalanges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17" name="Google Shape;1017;p95" descr="C:\Users\sawatson\Desktop\Images\FOOT_1.MR.0114.0001.2016.05.26.07.42.11.703125.448928718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5997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8" name="Google Shape;1018;p95" descr="C:\Users\sawatson\Desktop\Images\FOOT_1.MR.0123.0001.2016.05.26.07.42.11.703125.448946577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19197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9" name="Google Shape;1019;p95" descr="C:\Users\sawatson\Desktop\Images\FOOT_1.MR.0125.0001.2016.05.26.07.42.11.703125.448946675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62397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0" name="Google Shape;1020;p95" descr="C:\Users\sawatson\Desktop\Images\FOOT_1.MR.0124.0001.2016.05.26.07.42.11.703125.448946624.JPE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05597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1" name="Google Shape;1021;p9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FOOT</a:t>
            </a:r>
            <a:endParaRPr/>
          </a:p>
        </p:txBody>
      </p:sp>
      <p:sp>
        <p:nvSpPr>
          <p:cNvPr id="1022" name="Google Shape;1022;p95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Axial or Long axis</a:t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7" name="Google Shape;1027;p96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distal tarsals through phalanges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coronal plane covering entire foot L to R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the tarsals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28" name="Google Shape;1028;p96" descr="C:\Users\sawatson\Desktop\Images\FOOT_1.MR.0126.0001.2016.05.26.07.42.11.703125.448946718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9" name="Google Shape;1029;p96" descr="C:\Users\sawatson\Desktop\Images\FOOT_1.MR.0128.0001.2016.05.26.07.42.11.703125.448946816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0" name="Google Shape;1030;p96" descr="C:\Users\sawatson\Desktop\Images\FOOT_1.MR.0127.0001.2016.05.26.07.42.11.703125.448946769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765835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1" name="Google Shape;1031;p96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FOOT</a:t>
            </a:r>
            <a:endParaRPr/>
          </a:p>
        </p:txBody>
      </p:sp>
      <p:sp>
        <p:nvSpPr>
          <p:cNvPr id="1032" name="Google Shape;1032;p96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Sagittal</a:t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7" name="Google Shape;1037;p97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shaft of bone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a joint through area of interest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orthogonally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38" name="Google Shape;1038;p97" descr="F:\NON_DICOM_ANONYM_FILES\LONGBONE_1.MR.0100.0001.2018.03.01.13.10.27.514616.602271769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9" name="Google Shape;1039;p97" descr="F:\NON_DICOM_ANONYM_FILES\LONGBONE_1.MR.0101.0001.2018.03.01.13.10.27.514616.602271805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0" name="Google Shape;1040;p97" descr="F:\NON_DICOM_ANONYM_FILES\LONGBONE_1.MR.0102.0001.2018.03.01.13.10.27.514616.602271837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1" name="Google Shape;1041;p9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LONG BONE CENTER MIDSHAFT</a:t>
            </a:r>
            <a:endParaRPr/>
          </a:p>
        </p:txBody>
      </p:sp>
      <p:sp>
        <p:nvSpPr>
          <p:cNvPr id="1042" name="Google Shape;1042;p97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Coronal</a:t>
            </a:r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7" name="Google Shape;1047;p98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 a joint through area of interest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shaft of bone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orthogonally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48" name="Google Shape;1048;p98" descr="F:\NON_DICOM_ANONYM_FILES\LONGBONE_1.MR.0103.0001.2018.03.01.13.10.27.514616.602271873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63208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9" name="Google Shape;1049;p98" descr="F:\NON_DICOM_ANONYM_FILES\LONGBONE_1.MR.0104.0001.2018.03.01.13.10.27.514616.602271909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0" name="Google Shape;1050;p98" descr="F:\NON_DICOM_ANONYM_FILES\LONGBONE_1.MR.0105.0001.2018.03.01.13.10.27.514616.602271944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7616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1" name="Google Shape;1051;p98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LONG BONE</a:t>
            </a:r>
            <a:endParaRPr/>
          </a:p>
        </p:txBody>
      </p:sp>
      <p:sp>
        <p:nvSpPr>
          <p:cNvPr id="1052" name="Google Shape;1052;p98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Sagittal</a:t>
            </a:r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7" name="Google Shape;1057;p99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shaft of bone 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perpendicular to shaft of bone 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affected area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58" name="Google Shape;1058;p99" descr="F:\NON_DICOM_ANONYM_FILES\LONGBONE_1.MR.0107.0001.2018.03.01.13.10.27.514616.602272016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9" name="Google Shape;1059;p99" descr="F:\NON_DICOM_ANONYM_FILES\LONGBONE_1.MR.0106.0001.2018.03.01.13.10.27.514616.602271980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0" name="Google Shape;1060;p99" descr="F:\NON_DICOM_ANONYM_FILES\LONGBONE_1.MR.0108.0001.2018.03.01.13.10.27.514616.602272051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p99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LONG BONE</a:t>
            </a:r>
            <a:endParaRPr/>
          </a:p>
        </p:txBody>
      </p:sp>
      <p:sp>
        <p:nvSpPr>
          <p:cNvPr id="1062" name="Google Shape;1062;p99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Axial</a:t>
            </a:r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7" name="Google Shape;1067;p100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orthogonally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orthogonally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from axilla through entire breast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68" name="Google Shape;1068;p1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0" y="374142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9" name="Google Shape;1069;p100" descr="A picture containing indoor&#10;&#10;Description generated with high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8800" y="375666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0" name="Google Shape;1070;p100" descr="A picture containing brass, indoor, photo&#10;&#10;Description generated with high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373380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1" name="Google Shape;1071;p100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BREAST CENTER AT T7</a:t>
            </a:r>
            <a:endParaRPr/>
          </a:p>
        </p:txBody>
      </p:sp>
      <p:sp>
        <p:nvSpPr>
          <p:cNvPr id="1072" name="Google Shape;1072;p100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Axial</a:t>
            </a:r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7" name="Google Shape;1077;p101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from axilla through entire breast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orthogonally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orthogonally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78" name="Google Shape;1078;p1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52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9" name="Google Shape;1079;p101" descr="A close up of a logo&#10;&#10;Description generated with high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0" name="Google Shape;1080;p101" descr="A picture containing dark, person&#10;&#10;Description generated with high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28800" y="37490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10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BREAST</a:t>
            </a:r>
            <a:endParaRPr/>
          </a:p>
        </p:txBody>
      </p:sp>
      <p:sp>
        <p:nvSpPr>
          <p:cNvPr id="1082" name="Google Shape;1082;p101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Sagittal</a:t>
            </a:r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7" name="Google Shape;1087;p102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mandibular fossa L to R to include the ramus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ramus of mandible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to ramus of mandible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88" name="Google Shape;1088;p102" descr="E:\NON_DICOM_ANONYM_FILES\TMJ_1.MR.0104.0001.2018.03.08.10.51.13.593750.263323078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43698" y="3742837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9" name="Google Shape;1089;p102" descr="E:\NON_DICOM_ANONYM_FILES\TMJ_1.MR.0103.0001.2018.03.30.07.59.41.828125.263323028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86898" y="3742837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0" name="Google Shape;1090;p102" descr="E:\NON_DICOM_ANONYM_FILES\TMJ_1.MR.0105.0001.2018.03.30.07.59.41.828125.263351858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30098" y="3742837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1" name="Google Shape;1091;p10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TMJ CENTER AT THE EAM</a:t>
            </a:r>
            <a:endParaRPr/>
          </a:p>
        </p:txBody>
      </p:sp>
      <p:sp>
        <p:nvSpPr>
          <p:cNvPr id="1092" name="Google Shape;1092;p102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Sagittal</a:t>
            </a:r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7" name="Google Shape;1097;p103"/>
          <p:cNvGraphicFramePr/>
          <p:nvPr/>
        </p:nvGraphicFramePr>
        <p:xfrm>
          <a:off x="1828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{5BE7AE88-D19B-4EEE-8AA6-E2DF6FB06228}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Plane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Coverage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Sagittal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orthogonally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Coronal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The FOV will cover posterior to the mandibular fossa through coronoid process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Axial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align parallel bisecting the mandibular fossa bilaterally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98" name="Google Shape;1098;p103" descr="E:\NON_DICOM_ANONYM_FILES\TMJ_1.MR.0101.0001.2018.03.30.07.59.41.828125.263322746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9410" y="3743937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9" name="Google Shape;1099;p103" descr="E:\NON_DICOM_ANONYM_FILES\TMJ_1.MR.0102.0001.2018.03.30.07.59.41.828125.263322792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610" y="3743937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0" name="Google Shape;1100;p103" descr="E:\NON_DICOM_ANONYM_FILES\TMJ_1.MR.0100.0001.2018.03.30.07.59.41.828125.263322696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810" y="3743937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1" name="Google Shape;1101;p10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Narrow"/>
              <a:buNone/>
            </a:pPr>
            <a:r>
              <a:rPr lang="en-US"/>
              <a:t>TMJ</a:t>
            </a:r>
            <a:endParaRPr/>
          </a:p>
        </p:txBody>
      </p:sp>
      <p:sp>
        <p:nvSpPr>
          <p:cNvPr id="1102" name="Google Shape;1102;p103"/>
          <p:cNvSpPr txBox="1">
            <a:spLocks noGrp="1"/>
          </p:cNvSpPr>
          <p:nvPr>
            <p:ph type="body" idx="1"/>
          </p:nvPr>
        </p:nvSpPr>
        <p:spPr>
          <a:xfrm>
            <a:off x="812800" y="1600200"/>
            <a:ext cx="1056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Coronal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rizon">
  <a:themeElements>
    <a:clrScheme name="Horizon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3593</Words>
  <Application>Microsoft Office PowerPoint</Application>
  <PresentationFormat>Widescreen</PresentationFormat>
  <Paragraphs>1022</Paragraphs>
  <Slides>103</Slides>
  <Notes>103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103</vt:i4>
      </vt:variant>
    </vt:vector>
  </HeadingPairs>
  <TitlesOfParts>
    <vt:vector size="106" baseType="lpstr">
      <vt:lpstr>Arial Narrow</vt:lpstr>
      <vt:lpstr>Arial</vt:lpstr>
      <vt:lpstr>Horizon</vt:lpstr>
      <vt:lpstr>MRI PLANNING</vt:lpstr>
      <vt:lpstr>BRAIN-CENTER TO GLABELLA</vt:lpstr>
      <vt:lpstr>BRAIN</vt:lpstr>
      <vt:lpstr>BRAIN</vt:lpstr>
      <vt:lpstr>BRAIN &amp; IAC’S</vt:lpstr>
      <vt:lpstr>BRAIN &amp; IAC’S</vt:lpstr>
      <vt:lpstr>BRAIN &amp; PITUITARY</vt:lpstr>
      <vt:lpstr>BRAIN &amp; PITUITARY</vt:lpstr>
      <vt:lpstr>BRAIN &amp; ORBITS</vt:lpstr>
      <vt:lpstr>BRAIN &amp; ORBITS</vt:lpstr>
      <vt:lpstr>BRAIN FOR SIEZURE</vt:lpstr>
      <vt:lpstr>MRA HEAD-CENTER AT GLABELLA</vt:lpstr>
      <vt:lpstr>MRV HEAD</vt:lpstr>
      <vt:lpstr>MRV HEAD</vt:lpstr>
      <vt:lpstr>MRV HEAD</vt:lpstr>
      <vt:lpstr>MRA NECK CENTER AT C4</vt:lpstr>
      <vt:lpstr>MRA NECK</vt:lpstr>
      <vt:lpstr>MRA NECK</vt:lpstr>
      <vt:lpstr>MRA NECK</vt:lpstr>
      <vt:lpstr>MRA RENAL ARTIERIES CENTER AT L2</vt:lpstr>
      <vt:lpstr>MRA AORTA CENTER AT T7</vt:lpstr>
      <vt:lpstr>MRA AORTA</vt:lpstr>
      <vt:lpstr>SOFT TISSUE NECK CENTER AT C4</vt:lpstr>
      <vt:lpstr>SOFT TISSUE NECK</vt:lpstr>
      <vt:lpstr>SOFT TISSUE NECK</vt:lpstr>
      <vt:lpstr>BRACHIAL PLEXUS CENTER AT C4</vt:lpstr>
      <vt:lpstr>BRACHIAL PLEXUS</vt:lpstr>
      <vt:lpstr>BRACHIAL PLEXUS</vt:lpstr>
      <vt:lpstr>CERVICAL SPINE CENTER AT C4</vt:lpstr>
      <vt:lpstr>CERVICAL SPINE</vt:lpstr>
      <vt:lpstr>CERVICAL SPINE</vt:lpstr>
      <vt:lpstr>THORACIC SPINE</vt:lpstr>
      <vt:lpstr>THORACIC SPINE</vt:lpstr>
      <vt:lpstr>THORACIC SPINE</vt:lpstr>
      <vt:lpstr>LUMBAR SPINE CENTER AT L3</vt:lpstr>
      <vt:lpstr>LUMBAR SPINE</vt:lpstr>
      <vt:lpstr>LUMBAR SPINE</vt:lpstr>
      <vt:lpstr>SACRUM CENTER AS ASIS</vt:lpstr>
      <vt:lpstr>SACRUM</vt:lpstr>
      <vt:lpstr>SACRUM</vt:lpstr>
      <vt:lpstr> PELVIS CENTER AT ASIS</vt:lpstr>
      <vt:lpstr>PELVIS</vt:lpstr>
      <vt:lpstr>FEMALE PELVIS CENTER AT ASIS</vt:lpstr>
      <vt:lpstr>FEMALE PELVIS</vt:lpstr>
      <vt:lpstr>FEMALE PELVIS</vt:lpstr>
      <vt:lpstr>URETHRA CENTER AT GREATER TROCHANTER</vt:lpstr>
      <vt:lpstr>URETHRA</vt:lpstr>
      <vt:lpstr>URETHRA</vt:lpstr>
      <vt:lpstr>PLACENTA CENTER AT ILIAC CREST</vt:lpstr>
      <vt:lpstr>PLACENTA</vt:lpstr>
      <vt:lpstr>PLACENTA</vt:lpstr>
      <vt:lpstr>APPENDIX CENTER AT ILIAC CREST</vt:lpstr>
      <vt:lpstr>APPENDIX</vt:lpstr>
      <vt:lpstr>PROSTATE CENTER AT GREATER TROCHANTER</vt:lpstr>
      <vt:lpstr>PROSTATE</vt:lpstr>
      <vt:lpstr>PROSTATE</vt:lpstr>
      <vt:lpstr>RECTUM CENTER AT ASIS</vt:lpstr>
      <vt:lpstr>RECTUM</vt:lpstr>
      <vt:lpstr>RECTUM</vt:lpstr>
      <vt:lpstr>FISTULA CENTER TO ASIS</vt:lpstr>
      <vt:lpstr>FISTULA</vt:lpstr>
      <vt:lpstr>FISTULA</vt:lpstr>
      <vt:lpstr>MRCP CENTER AT DIAPHRAGM</vt:lpstr>
      <vt:lpstr>MRCP</vt:lpstr>
      <vt:lpstr>LIVER CENTER AT DIAPHRAGM</vt:lpstr>
      <vt:lpstr>LIVER</vt:lpstr>
      <vt:lpstr>PANCREAS CENTER AT DIAPHRAGM</vt:lpstr>
      <vt:lpstr>PANCREAS</vt:lpstr>
      <vt:lpstr>KIDNEYS CENTER AT ILIAC CREST</vt:lpstr>
      <vt:lpstr>KIDNEYS</vt:lpstr>
      <vt:lpstr>ADRENALS CENTER AT ILIAC CREST</vt:lpstr>
      <vt:lpstr>ADRENALS</vt:lpstr>
      <vt:lpstr>SHOULDER CENTER AT GLENOHUMERAL JOINT</vt:lpstr>
      <vt:lpstr>SHOULDER</vt:lpstr>
      <vt:lpstr>SHOULDER</vt:lpstr>
      <vt:lpstr>ELBOW CENTER AT EPICONDYLES</vt:lpstr>
      <vt:lpstr>ELBOW</vt:lpstr>
      <vt:lpstr>ELBOW</vt:lpstr>
      <vt:lpstr>WRIST CENTER AT CARPALS</vt:lpstr>
      <vt:lpstr>WRIST</vt:lpstr>
      <vt:lpstr>WRIST</vt:lpstr>
      <vt:lpstr>HAND CENTER TO PIP OF THIRD DIGIT</vt:lpstr>
      <vt:lpstr>HAND</vt:lpstr>
      <vt:lpstr>HAND</vt:lpstr>
      <vt:lpstr>HIPS CENTER AT GREATER TROCHANTER</vt:lpstr>
      <vt:lpstr>HIPS</vt:lpstr>
      <vt:lpstr>HIPS</vt:lpstr>
      <vt:lpstr>KNEE CENTER AT APEX</vt:lpstr>
      <vt:lpstr>KNEE</vt:lpstr>
      <vt:lpstr>KNEE</vt:lpstr>
      <vt:lpstr>ANKLE CENTER AT MORTISE JOINT</vt:lpstr>
      <vt:lpstr>ANKLE</vt:lpstr>
      <vt:lpstr>ANKLE</vt:lpstr>
      <vt:lpstr>FOOT CENTER MIDFOOT</vt:lpstr>
      <vt:lpstr>FOOT</vt:lpstr>
      <vt:lpstr>FOOT</vt:lpstr>
      <vt:lpstr>LONG BONE CENTER MIDSHAFT</vt:lpstr>
      <vt:lpstr>LONG BONE</vt:lpstr>
      <vt:lpstr>LONG BONE</vt:lpstr>
      <vt:lpstr>BREAST CENTER AT T7</vt:lpstr>
      <vt:lpstr>BREAST</vt:lpstr>
      <vt:lpstr>TMJ CENTER AT THE EAM</vt:lpstr>
      <vt:lpstr>TMJ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Wes Williamson</dc:creator>
  <cp:lastModifiedBy>Wes Williamson</cp:lastModifiedBy>
  <cp:revision>1</cp:revision>
  <dcterms:created xsi:type="dcterms:W3CDTF">2018-02-10T00:34:02Z</dcterms:created>
  <dcterms:modified xsi:type="dcterms:W3CDTF">2026-05-31T17:30:35Z</dcterms:modified>
</cp:coreProperties>
</file>